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2" r:id="rId1"/>
  </p:sldMasterIdLst>
  <p:notesMasterIdLst>
    <p:notesMasterId r:id="rId24"/>
  </p:notesMasterIdLst>
  <p:sldIdLst>
    <p:sldId id="272" r:id="rId2"/>
    <p:sldId id="273" r:id="rId3"/>
    <p:sldId id="274" r:id="rId4"/>
    <p:sldId id="275" r:id="rId5"/>
    <p:sldId id="276" r:id="rId6"/>
    <p:sldId id="277" r:id="rId7"/>
    <p:sldId id="278" r:id="rId8"/>
    <p:sldId id="279" r:id="rId9"/>
    <p:sldId id="281" r:id="rId10"/>
    <p:sldId id="284" r:id="rId11"/>
    <p:sldId id="285" r:id="rId12"/>
    <p:sldId id="286" r:id="rId13"/>
    <p:sldId id="293" r:id="rId14"/>
    <p:sldId id="280" r:id="rId15"/>
    <p:sldId id="282" r:id="rId16"/>
    <p:sldId id="287" r:id="rId17"/>
    <p:sldId id="292" r:id="rId18"/>
    <p:sldId id="291" r:id="rId19"/>
    <p:sldId id="288" r:id="rId20"/>
    <p:sldId id="289" r:id="rId21"/>
    <p:sldId id="290" r:id="rId22"/>
    <p:sldId id="258" r:id="rId2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DFEFF6"/>
    <a:srgbClr val="3D5D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1" autoAdjust="0"/>
    <p:restoredTop sz="94660" autoAdjust="0"/>
  </p:normalViewPr>
  <p:slideViewPr>
    <p:cSldViewPr>
      <p:cViewPr>
        <p:scale>
          <a:sx n="117" d="100"/>
          <a:sy n="117" d="100"/>
        </p:scale>
        <p:origin x="1120" y="40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752325C8-FBBD-4932-9471-D48E54CDCCAC}" type="datetimeFigureOut">
              <a:rPr lang="en-US" altLang="en-US"/>
              <a:pPr>
                <a:defRPr/>
              </a:pPr>
              <a:t>10/8/25</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27E27DB-B1BF-4D0B-A3CB-23545D04F86D}" type="slidenum">
              <a:rPr lang="en-US" altLang="en-US"/>
              <a:pPr>
                <a:defRPr/>
              </a:pPr>
              <a:t>‹#›</a:t>
            </a:fld>
            <a:endParaRPr lang="en-US" altLang="en-US"/>
          </a:p>
        </p:txBody>
      </p:sp>
    </p:spTree>
    <p:extLst>
      <p:ext uri="{BB962C8B-B14F-4D97-AF65-F5344CB8AC3E}">
        <p14:creationId xmlns:p14="http://schemas.microsoft.com/office/powerpoint/2010/main" val="33363296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iography">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CF966B7-570F-4BEB-B8FC-F2C67BAC5B4C}"/>
              </a:ext>
            </a:extLst>
          </p:cNvPr>
          <p:cNvSpPr>
            <a:spLocks noGrp="1"/>
          </p:cNvSpPr>
          <p:nvPr>
            <p:ph type="body" sz="quarter" idx="13" hasCustomPrompt="1"/>
          </p:nvPr>
        </p:nvSpPr>
        <p:spPr>
          <a:xfrm>
            <a:off x="762000" y="1905000"/>
            <a:ext cx="10820400" cy="1447800"/>
          </a:xfrm>
        </p:spPr>
        <p:txBody>
          <a:bodyPr/>
          <a:lstStyle>
            <a:lvl1pPr marL="109537" indent="0">
              <a:buNone/>
              <a:defRPr b="0"/>
            </a:lvl1pPr>
          </a:lstStyle>
          <a:p>
            <a:pPr lvl="0"/>
            <a:r>
              <a:rPr lang="en-US" dirty="0"/>
              <a:t>Author 1 Name: Author 1 Biography</a:t>
            </a:r>
          </a:p>
        </p:txBody>
      </p:sp>
      <p:sp>
        <p:nvSpPr>
          <p:cNvPr id="10" name="Text Placeholder 9">
            <a:extLst>
              <a:ext uri="{FF2B5EF4-FFF2-40B4-BE49-F238E27FC236}">
                <a16:creationId xmlns:a16="http://schemas.microsoft.com/office/drawing/2014/main" id="{6556E759-A785-4CA1-AB64-B7F7F5B99BCF}"/>
              </a:ext>
            </a:extLst>
          </p:cNvPr>
          <p:cNvSpPr>
            <a:spLocks noGrp="1"/>
          </p:cNvSpPr>
          <p:nvPr>
            <p:ph type="body" sz="quarter" idx="14" hasCustomPrompt="1"/>
          </p:nvPr>
        </p:nvSpPr>
        <p:spPr>
          <a:xfrm>
            <a:off x="762000" y="3505200"/>
            <a:ext cx="10820400" cy="1447800"/>
          </a:xfrm>
        </p:spPr>
        <p:txBody>
          <a:bodyPr/>
          <a:lstStyle>
            <a:lvl1pPr marL="109537" indent="0">
              <a:buNone/>
              <a:defRPr/>
            </a:lvl1pPr>
          </a:lstStyle>
          <a:p>
            <a:pPr lvl="0"/>
            <a:r>
              <a:rPr lang="en-US" dirty="0"/>
              <a:t>Author 2 Name: Author 2 Biography</a:t>
            </a:r>
          </a:p>
        </p:txBody>
      </p:sp>
      <p:sp>
        <p:nvSpPr>
          <p:cNvPr id="11" name="Date Placeholder 10">
            <a:extLst>
              <a:ext uri="{FF2B5EF4-FFF2-40B4-BE49-F238E27FC236}">
                <a16:creationId xmlns:a16="http://schemas.microsoft.com/office/drawing/2014/main" id="{A54A65E2-FB4B-42EB-9349-589AE14A3E7A}"/>
              </a:ext>
            </a:extLst>
          </p:cNvPr>
          <p:cNvSpPr>
            <a:spLocks noGrp="1"/>
          </p:cNvSpPr>
          <p:nvPr>
            <p:ph type="dt" sz="half" idx="15"/>
          </p:nvPr>
        </p:nvSpPr>
        <p:spPr/>
        <p:txBody>
          <a:bodyPr/>
          <a:lstStyle/>
          <a:p>
            <a:pPr>
              <a:defRPr/>
            </a:pPr>
            <a:fld id="{C4BE6F43-98E8-4D63-B55D-DCF1C901179C}" type="datetime1">
              <a:rPr lang="en-US" altLang="en-US" smtClean="0"/>
              <a:t>10/8/25</a:t>
            </a:fld>
            <a:endParaRPr lang="en-US" altLang="en-US"/>
          </a:p>
        </p:txBody>
      </p:sp>
      <p:sp>
        <p:nvSpPr>
          <p:cNvPr id="12" name="Footer Placeholder 11">
            <a:extLst>
              <a:ext uri="{FF2B5EF4-FFF2-40B4-BE49-F238E27FC236}">
                <a16:creationId xmlns:a16="http://schemas.microsoft.com/office/drawing/2014/main" id="{AB295823-0575-43C8-AEFB-7D7DDD7F32F2}"/>
              </a:ext>
            </a:extLst>
          </p:cNvPr>
          <p:cNvSpPr>
            <a:spLocks noGrp="1"/>
          </p:cNvSpPr>
          <p:nvPr>
            <p:ph type="ftr" sz="quarter" idx="16"/>
          </p:nvPr>
        </p:nvSpPr>
        <p:spPr/>
        <p:txBody>
          <a:bodyPr/>
          <a:lstStyle/>
          <a:p>
            <a:pPr>
              <a:defRPr/>
            </a:pPr>
            <a:r>
              <a:rPr lang="en-US"/>
              <a:t>Paper Number xx-xxx</a:t>
            </a:r>
            <a:endParaRPr lang="en-US" dirty="0"/>
          </a:p>
        </p:txBody>
      </p:sp>
      <p:sp>
        <p:nvSpPr>
          <p:cNvPr id="13" name="Slide Number Placeholder 12">
            <a:extLst>
              <a:ext uri="{FF2B5EF4-FFF2-40B4-BE49-F238E27FC236}">
                <a16:creationId xmlns:a16="http://schemas.microsoft.com/office/drawing/2014/main" id="{CBC361B0-2C1B-468A-9569-6D7447D849B4}"/>
              </a:ext>
            </a:extLst>
          </p:cNvPr>
          <p:cNvSpPr>
            <a:spLocks noGrp="1"/>
          </p:cNvSpPr>
          <p:nvPr>
            <p:ph type="sldNum" sz="quarter" idx="17"/>
          </p:nvPr>
        </p:nvSpPr>
        <p:spPr/>
        <p:txBody>
          <a:bodyPr/>
          <a:lstStyle/>
          <a:p>
            <a:pPr>
              <a:defRPr/>
            </a:pPr>
            <a:fld id="{1C339704-F9B3-4C6B-B54B-06AD26381A4A}" type="slidenum">
              <a:rPr lang="en-US" altLang="en-US" smtClean="0"/>
              <a:pPr>
                <a:defRPr/>
              </a:pPr>
              <a:t>‹#›</a:t>
            </a:fld>
            <a:endParaRPr lang="en-US" altLang="en-US" sz="1100"/>
          </a:p>
        </p:txBody>
      </p:sp>
      <p:sp>
        <p:nvSpPr>
          <p:cNvPr id="9" name="Title 6">
            <a:extLst>
              <a:ext uri="{FF2B5EF4-FFF2-40B4-BE49-F238E27FC236}">
                <a16:creationId xmlns:a16="http://schemas.microsoft.com/office/drawing/2014/main" id="{B55CD069-371D-4FC1-A2F2-DE7927F01546}"/>
              </a:ext>
            </a:extLst>
          </p:cNvPr>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Tree>
    <p:extLst>
      <p:ext uri="{BB962C8B-B14F-4D97-AF65-F5344CB8AC3E}">
        <p14:creationId xmlns:p14="http://schemas.microsoft.com/office/powerpoint/2010/main" val="1081261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Slide">
    <p:spTree>
      <p:nvGrpSpPr>
        <p:cNvPr id="1" name=""/>
        <p:cNvGrpSpPr/>
        <p:nvPr/>
      </p:nvGrpSpPr>
      <p:grpSpPr>
        <a:xfrm>
          <a:off x="0" y="0"/>
          <a:ext cx="0" cy="0"/>
          <a:chOff x="0" y="0"/>
          <a:chExt cx="0" cy="0"/>
        </a:xfrm>
      </p:grpSpPr>
      <p:sp>
        <p:nvSpPr>
          <p:cNvPr id="4" name="Right Triangle 3"/>
          <p:cNvSpPr/>
          <p:nvPr/>
        </p:nvSpPr>
        <p:spPr>
          <a:xfrm>
            <a:off x="1"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itle 8"/>
          <p:cNvSpPr>
            <a:spLocks noGrp="1"/>
          </p:cNvSpPr>
          <p:nvPr>
            <p:ph type="ctrTitle"/>
          </p:nvPr>
        </p:nvSpPr>
        <p:spPr>
          <a:xfrm>
            <a:off x="914400" y="1752604"/>
            <a:ext cx="10363200" cy="1829761"/>
          </a:xfrm>
          <a:prstGeom prst="rect">
            <a:avLst/>
          </a:prstGeo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Tree>
    <p:extLst>
      <p:ext uri="{BB962C8B-B14F-4D97-AF65-F5344CB8AC3E}">
        <p14:creationId xmlns:p14="http://schemas.microsoft.com/office/powerpoint/2010/main" val="776655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 Option 1">
    <p:bg>
      <p:bgPr>
        <a:gradFill flip="none" rotWithShape="1">
          <a:gsLst>
            <a:gs pos="99000">
              <a:schemeClr val="tx1">
                <a:lumMod val="65000"/>
                <a:lumOff val="35000"/>
              </a:schemeClr>
            </a:gs>
            <a:gs pos="50000">
              <a:schemeClr val="bg1">
                <a:lumMod val="75000"/>
              </a:schemeClr>
            </a:gs>
            <a:gs pos="0">
              <a:srgbClr val="DFEFF6"/>
            </a:gs>
          </a:gsLst>
          <a:lin ang="5400000" scaled="0"/>
          <a:tileRect/>
        </a:grad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25373C4E-0E55-4757-9EF8-4A5017921A8F}"/>
              </a:ext>
            </a:extLst>
          </p:cNvPr>
          <p:cNvSpPr>
            <a:spLocks noGrp="1"/>
          </p:cNvSpPr>
          <p:nvPr>
            <p:ph type="ctrTitle" hasCustomPrompt="1"/>
          </p:nvPr>
        </p:nvSpPr>
        <p:spPr>
          <a:xfrm>
            <a:off x="914400" y="1752604"/>
            <a:ext cx="10363200" cy="1829761"/>
          </a:xfrm>
          <a:prstGeom prst="rect">
            <a:avLst/>
          </a:prstGeo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dirty="0"/>
              <a:t>Click to edit Section title style</a:t>
            </a:r>
          </a:p>
        </p:txBody>
      </p:sp>
      <p:sp>
        <p:nvSpPr>
          <p:cNvPr id="7" name="Subtitle 16">
            <a:extLst>
              <a:ext uri="{FF2B5EF4-FFF2-40B4-BE49-F238E27FC236}">
                <a16:creationId xmlns:a16="http://schemas.microsoft.com/office/drawing/2014/main" id="{BDF03BBF-027E-4197-91D2-E79E59BA05AC}"/>
              </a:ext>
            </a:extLst>
          </p:cNvPr>
          <p:cNvSpPr>
            <a:spLocks noGrp="1"/>
          </p:cNvSpPr>
          <p:nvPr>
            <p:ph type="subTitle" idx="1" hasCustomPrompt="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Section subtitle style</a:t>
            </a:r>
          </a:p>
        </p:txBody>
      </p:sp>
    </p:spTree>
    <p:extLst>
      <p:ext uri="{BB962C8B-B14F-4D97-AF65-F5344CB8AC3E}">
        <p14:creationId xmlns:p14="http://schemas.microsoft.com/office/powerpoint/2010/main" val="85051318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 Option 2">
    <p:bg>
      <p:bgPr>
        <a:gradFill flip="none" rotWithShape="1">
          <a:gsLst>
            <a:gs pos="99000">
              <a:schemeClr val="accent1"/>
            </a:gs>
            <a:gs pos="24000">
              <a:schemeClr val="accent1">
                <a:lumMod val="40000"/>
                <a:lumOff val="60000"/>
              </a:schemeClr>
            </a:gs>
            <a:gs pos="0">
              <a:schemeClr val="accent1">
                <a:lumMod val="20000"/>
                <a:lumOff val="80000"/>
              </a:schemeClr>
            </a:gs>
          </a:gsLst>
          <a:lin ang="5400000" scaled="0"/>
          <a:tileRect/>
        </a:grad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25373C4E-0E55-4757-9EF8-4A5017921A8F}"/>
              </a:ext>
            </a:extLst>
          </p:cNvPr>
          <p:cNvSpPr>
            <a:spLocks noGrp="1"/>
          </p:cNvSpPr>
          <p:nvPr>
            <p:ph type="ctrTitle" hasCustomPrompt="1"/>
          </p:nvPr>
        </p:nvSpPr>
        <p:spPr>
          <a:xfrm>
            <a:off x="914400" y="1752604"/>
            <a:ext cx="10363200" cy="1829761"/>
          </a:xfrm>
          <a:prstGeom prst="rect">
            <a:avLst/>
          </a:prstGeo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dirty="0"/>
              <a:t>Click to edit Section title style</a:t>
            </a:r>
          </a:p>
        </p:txBody>
      </p:sp>
      <p:sp>
        <p:nvSpPr>
          <p:cNvPr id="7" name="Subtitle 16">
            <a:extLst>
              <a:ext uri="{FF2B5EF4-FFF2-40B4-BE49-F238E27FC236}">
                <a16:creationId xmlns:a16="http://schemas.microsoft.com/office/drawing/2014/main" id="{BDF03BBF-027E-4197-91D2-E79E59BA05AC}"/>
              </a:ext>
            </a:extLst>
          </p:cNvPr>
          <p:cNvSpPr>
            <a:spLocks noGrp="1"/>
          </p:cNvSpPr>
          <p:nvPr>
            <p:ph type="subTitle" idx="1" hasCustomPrompt="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Section subtitle style</a:t>
            </a:r>
          </a:p>
        </p:txBody>
      </p:sp>
    </p:spTree>
    <p:extLst>
      <p:ext uri="{BB962C8B-B14F-4D97-AF65-F5344CB8AC3E}">
        <p14:creationId xmlns:p14="http://schemas.microsoft.com/office/powerpoint/2010/main" val="110959619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ide by Side Content">
    <p:spTree>
      <p:nvGrpSpPr>
        <p:cNvPr id="1" name=""/>
        <p:cNvGrpSpPr/>
        <p:nvPr/>
      </p:nvGrpSpPr>
      <p:grpSpPr>
        <a:xfrm>
          <a:off x="0" y="0"/>
          <a:ext cx="0" cy="0"/>
          <a:chOff x="0" y="0"/>
          <a:chExt cx="0" cy="0"/>
        </a:xfrm>
      </p:grpSpPr>
      <p:sp>
        <p:nvSpPr>
          <p:cNvPr id="4" name="Right Triangle 3"/>
          <p:cNvSpPr/>
          <p:nvPr/>
        </p:nvSpPr>
        <p:spPr>
          <a:xfrm>
            <a:off x="1"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Title 6">
            <a:extLst>
              <a:ext uri="{FF2B5EF4-FFF2-40B4-BE49-F238E27FC236}">
                <a16:creationId xmlns:a16="http://schemas.microsoft.com/office/drawing/2014/main" id="{D720B38A-29BE-4690-B34E-EAC209A30803}"/>
              </a:ext>
            </a:extLst>
          </p:cNvPr>
          <p:cNvSpPr txBox="1">
            <a:spLocks/>
          </p:cNvSpPr>
          <p:nvPr userDrawn="1"/>
        </p:nvSpPr>
        <p:spPr>
          <a:xfrm>
            <a:off x="2362200" y="304800"/>
            <a:ext cx="9245601" cy="1143000"/>
          </a:xfrm>
          <a:prstGeom prst="rect">
            <a:avLst/>
          </a:prstGeom>
        </p:spPr>
        <p:txBody>
          <a:bodyPr vert="horz" rtlCol="0" anchor="ctr">
            <a:normAutofit/>
            <a:scene3d>
              <a:camera prst="orthographicFront"/>
              <a:lightRig rig="soft" dir="t"/>
            </a:scene3d>
            <a:sp3d prstMaterial="softEdge">
              <a:bevelT w="25400" h="25400"/>
            </a:sp3d>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S PGothic" panose="020B0600070205080204" pitchFamily="34" charset="-128"/>
                <a:cs typeface="+mj-cs"/>
              </a:defRPr>
            </a:lvl1pPr>
            <a:lvl2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2pPr>
            <a:lvl3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3pPr>
            <a:lvl4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4pPr>
            <a:lvl5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5pPr>
            <a:lvl6pPr marL="457200" algn="l" rtl="0" eaLnBrk="1" fontAlgn="base" hangingPunct="1">
              <a:spcBef>
                <a:spcPct val="0"/>
              </a:spcBef>
              <a:spcAft>
                <a:spcPct val="0"/>
              </a:spcAft>
              <a:defRPr sz="4100" b="1">
                <a:solidFill>
                  <a:schemeClr val="tx2"/>
                </a:solidFill>
                <a:latin typeface="Lucida Sans Unicode" charset="0"/>
                <a:ea typeface="ＭＳ Ｐゴシック" charset="0"/>
              </a:defRPr>
            </a:lvl6pPr>
            <a:lvl7pPr marL="914400" algn="l" rtl="0" eaLnBrk="1" fontAlgn="base" hangingPunct="1">
              <a:spcBef>
                <a:spcPct val="0"/>
              </a:spcBef>
              <a:spcAft>
                <a:spcPct val="0"/>
              </a:spcAft>
              <a:defRPr sz="4100" b="1">
                <a:solidFill>
                  <a:schemeClr val="tx2"/>
                </a:solidFill>
                <a:latin typeface="Lucida Sans Unicode" charset="0"/>
                <a:ea typeface="ＭＳ Ｐゴシック" charset="0"/>
              </a:defRPr>
            </a:lvl7pPr>
            <a:lvl8pPr marL="1371600" algn="l" rtl="0" eaLnBrk="1" fontAlgn="base" hangingPunct="1">
              <a:spcBef>
                <a:spcPct val="0"/>
              </a:spcBef>
              <a:spcAft>
                <a:spcPct val="0"/>
              </a:spcAft>
              <a:defRPr sz="4100" b="1">
                <a:solidFill>
                  <a:schemeClr val="tx2"/>
                </a:solidFill>
                <a:latin typeface="Lucida Sans Unicode" charset="0"/>
                <a:ea typeface="ＭＳ Ｐゴシック" charset="0"/>
              </a:defRPr>
            </a:lvl8pPr>
            <a:lvl9pPr marL="1828800" algn="l" rtl="0" eaLnBrk="1" fontAlgn="base" hangingPunct="1">
              <a:spcBef>
                <a:spcPct val="0"/>
              </a:spcBef>
              <a:spcAft>
                <a:spcPct val="0"/>
              </a:spcAft>
              <a:defRPr sz="4100" b="1">
                <a:solidFill>
                  <a:schemeClr val="tx2"/>
                </a:solidFill>
                <a:latin typeface="Lucida Sans Unicode" charset="0"/>
                <a:ea typeface="ＭＳ Ｐゴシック" charset="0"/>
              </a:defRPr>
            </a:lvl9pPr>
            <a:extLst/>
          </a:lstStyle>
          <a:p>
            <a:r>
              <a:rPr lang="en-US" dirty="0"/>
              <a:t>Click to edit Master title style</a:t>
            </a:r>
          </a:p>
        </p:txBody>
      </p:sp>
      <p:sp>
        <p:nvSpPr>
          <p:cNvPr id="3" name="Content Placeholder 2">
            <a:extLst>
              <a:ext uri="{FF2B5EF4-FFF2-40B4-BE49-F238E27FC236}">
                <a16:creationId xmlns:a16="http://schemas.microsoft.com/office/drawing/2014/main" id="{045DEC39-0796-485D-BA09-0314A1320B80}"/>
              </a:ext>
            </a:extLst>
          </p:cNvPr>
          <p:cNvSpPr>
            <a:spLocks noGrp="1"/>
          </p:cNvSpPr>
          <p:nvPr>
            <p:ph sz="quarter" idx="10"/>
          </p:nvPr>
        </p:nvSpPr>
        <p:spPr>
          <a:xfrm>
            <a:off x="762000" y="1828800"/>
            <a:ext cx="4953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A551E262-69CB-4F23-AF75-898EF63027B2}"/>
              </a:ext>
            </a:extLst>
          </p:cNvPr>
          <p:cNvSpPr>
            <a:spLocks noGrp="1"/>
          </p:cNvSpPr>
          <p:nvPr>
            <p:ph sz="quarter" idx="11"/>
          </p:nvPr>
        </p:nvSpPr>
        <p:spPr>
          <a:xfrm>
            <a:off x="6400800" y="1828800"/>
            <a:ext cx="4953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9">
            <a:extLst>
              <a:ext uri="{FF2B5EF4-FFF2-40B4-BE49-F238E27FC236}">
                <a16:creationId xmlns:a16="http://schemas.microsoft.com/office/drawing/2014/main" id="{4EB547B0-6387-4912-9CA3-C05409BCE384}"/>
              </a:ext>
            </a:extLst>
          </p:cNvPr>
          <p:cNvSpPr>
            <a:spLocks noGrp="1"/>
          </p:cNvSpPr>
          <p:nvPr>
            <p:ph type="dt" sz="half" idx="12"/>
          </p:nvPr>
        </p:nvSpPr>
        <p:spPr>
          <a:xfrm>
            <a:off x="8970433" y="6408741"/>
            <a:ext cx="2559051" cy="365125"/>
          </a:xfrm>
        </p:spPr>
        <p:txBody>
          <a:bodyPr/>
          <a:lstStyle>
            <a:lvl1pPr>
              <a:defRPr/>
            </a:lvl1pPr>
          </a:lstStyle>
          <a:p>
            <a:pPr>
              <a:defRPr/>
            </a:pPr>
            <a:fld id="{54169C2F-051B-4E34-B2AC-17E8814C3B83}" type="datetime1">
              <a:rPr lang="en-US" altLang="en-US" smtClean="0"/>
              <a:t>10/8/25</a:t>
            </a:fld>
            <a:endParaRPr lang="en-US" altLang="en-US"/>
          </a:p>
        </p:txBody>
      </p:sp>
      <p:sp>
        <p:nvSpPr>
          <p:cNvPr id="19" name="Footer Placeholder 21">
            <a:extLst>
              <a:ext uri="{FF2B5EF4-FFF2-40B4-BE49-F238E27FC236}">
                <a16:creationId xmlns:a16="http://schemas.microsoft.com/office/drawing/2014/main" id="{87BE3C48-5E78-4DCF-977D-F22F14AF890F}"/>
              </a:ext>
            </a:extLst>
          </p:cNvPr>
          <p:cNvSpPr>
            <a:spLocks noGrp="1"/>
          </p:cNvSpPr>
          <p:nvPr>
            <p:ph type="ftr" sz="quarter" idx="13"/>
          </p:nvPr>
        </p:nvSpPr>
        <p:spPr>
          <a:xfrm>
            <a:off x="5839884" y="6408741"/>
            <a:ext cx="3134783" cy="365125"/>
          </a:xfrm>
        </p:spPr>
        <p:txBody>
          <a:bodyPr/>
          <a:lstStyle>
            <a:lvl1pPr algn="ctr" eaLnBrk="1" latinLnBrk="0" hangingPunct="1">
              <a:defRPr kumimoji="0" sz="1000">
                <a:solidFill>
                  <a:schemeClr val="tx2"/>
                </a:solidFill>
              </a:defRPr>
            </a:lvl1pPr>
            <a:extLst/>
          </a:lstStyle>
          <a:p>
            <a:pPr>
              <a:defRPr/>
            </a:pPr>
            <a:r>
              <a:rPr lang="en-US" dirty="0"/>
              <a:t>Paper Number xx-xxx</a:t>
            </a:r>
          </a:p>
        </p:txBody>
      </p:sp>
      <p:sp>
        <p:nvSpPr>
          <p:cNvPr id="20" name="Slide Number Placeholder 17">
            <a:extLst>
              <a:ext uri="{FF2B5EF4-FFF2-40B4-BE49-F238E27FC236}">
                <a16:creationId xmlns:a16="http://schemas.microsoft.com/office/drawing/2014/main" id="{3ACD8A34-2762-4252-87E2-A4107E267F28}"/>
              </a:ext>
            </a:extLst>
          </p:cNvPr>
          <p:cNvSpPr>
            <a:spLocks noGrp="1"/>
          </p:cNvSpPr>
          <p:nvPr>
            <p:ph type="sldNum" sz="quarter" idx="14"/>
          </p:nvPr>
        </p:nvSpPr>
        <p:spPr>
          <a:xfrm>
            <a:off x="11529484" y="6408741"/>
            <a:ext cx="488949" cy="365125"/>
          </a:xfrm>
        </p:spPr>
        <p:txBody>
          <a:bodyPr/>
          <a:lstStyle>
            <a:lvl1pPr>
              <a:defRPr/>
            </a:lvl1pPr>
          </a:lstStyle>
          <a:p>
            <a:pPr>
              <a:defRPr/>
            </a:pPr>
            <a:fld id="{51A8E585-845B-497D-BF2F-352F8654D138}" type="slidenum">
              <a:rPr lang="en-US" altLang="en-US"/>
              <a:pPr>
                <a:defRPr/>
              </a:pPr>
              <a:t>‹#›</a:t>
            </a:fld>
            <a:endParaRPr lang="en-US" altLang="en-US" sz="1100"/>
          </a:p>
        </p:txBody>
      </p:sp>
    </p:spTree>
    <p:extLst>
      <p:ext uri="{BB962C8B-B14F-4D97-AF65-F5344CB8AC3E}">
        <p14:creationId xmlns:p14="http://schemas.microsoft.com/office/powerpoint/2010/main" val="3170158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
        <p:nvSpPr>
          <p:cNvPr id="4" name="Date Placeholder 9"/>
          <p:cNvSpPr>
            <a:spLocks noGrp="1"/>
          </p:cNvSpPr>
          <p:nvPr>
            <p:ph type="dt" sz="half" idx="10"/>
          </p:nvPr>
        </p:nvSpPr>
        <p:spPr/>
        <p:txBody>
          <a:bodyPr/>
          <a:lstStyle>
            <a:lvl1pPr>
              <a:defRPr/>
            </a:lvl1pPr>
          </a:lstStyle>
          <a:p>
            <a:pPr>
              <a:defRPr/>
            </a:pPr>
            <a:fld id="{AD0A1241-4DEE-4FB0-A61B-564819636ADC}" type="datetime1">
              <a:rPr lang="en-US" altLang="en-US" smtClean="0"/>
              <a:t>10/8/25</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dirty="0"/>
              <a:t>Paper Number xx-xxx</a:t>
            </a:r>
          </a:p>
        </p:txBody>
      </p:sp>
      <p:sp>
        <p:nvSpPr>
          <p:cNvPr id="6" name="Slide Number Placeholder 17"/>
          <p:cNvSpPr>
            <a:spLocks noGrp="1"/>
          </p:cNvSpPr>
          <p:nvPr>
            <p:ph type="sldNum" sz="quarter" idx="12"/>
          </p:nvPr>
        </p:nvSpPr>
        <p:spPr/>
        <p:txBody>
          <a:bodyPr/>
          <a:lstStyle>
            <a:lvl1pPr>
              <a:defRPr/>
            </a:lvl1pPr>
          </a:lstStyle>
          <a:p>
            <a:pPr>
              <a:defRPr/>
            </a:pPr>
            <a:fld id="{D4FBC53C-9F89-4DDE-A73C-FCE67BB39BDF}" type="slidenum">
              <a:rPr lang="en-US" altLang="en-US"/>
              <a:pPr>
                <a:defRPr/>
              </a:pPr>
              <a:t>‹#›</a:t>
            </a:fld>
            <a:endParaRPr lang="en-US" altLang="en-US" sz="1100"/>
          </a:p>
        </p:txBody>
      </p:sp>
    </p:spTree>
    <p:extLst>
      <p:ext uri="{BB962C8B-B14F-4D97-AF65-F5344CB8AC3E}">
        <p14:creationId xmlns:p14="http://schemas.microsoft.com/office/powerpoint/2010/main" val="3030319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55626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6193370" y="55626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609600" y="1596697"/>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9" y="1596697"/>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9"/>
          <p:cNvSpPr>
            <a:spLocks noGrp="1"/>
          </p:cNvSpPr>
          <p:nvPr>
            <p:ph type="dt" sz="half" idx="10"/>
          </p:nvPr>
        </p:nvSpPr>
        <p:spPr/>
        <p:txBody>
          <a:bodyPr/>
          <a:lstStyle>
            <a:lvl1pPr>
              <a:defRPr/>
            </a:lvl1pPr>
          </a:lstStyle>
          <a:p>
            <a:pPr>
              <a:defRPr/>
            </a:pPr>
            <a:fld id="{54169C2F-051B-4E34-B2AC-17E8814C3B83}" type="datetime1">
              <a:rPr lang="en-US" altLang="en-US" smtClean="0"/>
              <a:t>10/8/25</a:t>
            </a:fld>
            <a:endParaRPr lang="en-US" altLang="en-US"/>
          </a:p>
        </p:txBody>
      </p:sp>
      <p:sp>
        <p:nvSpPr>
          <p:cNvPr id="9" name="Footer Placeholder 21"/>
          <p:cNvSpPr>
            <a:spLocks noGrp="1"/>
          </p:cNvSpPr>
          <p:nvPr>
            <p:ph type="ftr" sz="quarter" idx="11"/>
          </p:nvPr>
        </p:nvSpPr>
        <p:spPr/>
        <p:txBody>
          <a:bodyPr/>
          <a:lstStyle>
            <a:lvl1pPr algn="ctr" eaLnBrk="1" latinLnBrk="0" hangingPunct="1">
              <a:defRPr kumimoji="0" sz="1000">
                <a:solidFill>
                  <a:schemeClr val="tx2"/>
                </a:solidFill>
              </a:defRPr>
            </a:lvl1pPr>
            <a:extLst/>
          </a:lstStyle>
          <a:p>
            <a:pPr>
              <a:defRPr/>
            </a:pPr>
            <a:r>
              <a:rPr lang="en-US" dirty="0"/>
              <a:t>Paper Number xx-xxx</a:t>
            </a:r>
          </a:p>
        </p:txBody>
      </p:sp>
      <p:sp>
        <p:nvSpPr>
          <p:cNvPr id="10" name="Slide Number Placeholder 17"/>
          <p:cNvSpPr>
            <a:spLocks noGrp="1"/>
          </p:cNvSpPr>
          <p:nvPr>
            <p:ph type="sldNum" sz="quarter" idx="12"/>
          </p:nvPr>
        </p:nvSpPr>
        <p:spPr/>
        <p:txBody>
          <a:bodyPr/>
          <a:lstStyle>
            <a:lvl1pPr>
              <a:defRPr/>
            </a:lvl1pPr>
          </a:lstStyle>
          <a:p>
            <a:pPr>
              <a:defRPr/>
            </a:pPr>
            <a:fld id="{51A8E585-845B-497D-BF2F-352F8654D138}" type="slidenum">
              <a:rPr lang="en-US" altLang="en-US"/>
              <a:pPr>
                <a:defRPr/>
              </a:pPr>
              <a:t>‹#›</a:t>
            </a:fld>
            <a:endParaRPr lang="en-US" altLang="en-US" sz="1100"/>
          </a:p>
        </p:txBody>
      </p:sp>
      <p:sp>
        <p:nvSpPr>
          <p:cNvPr id="12" name="Title 6">
            <a:extLst>
              <a:ext uri="{FF2B5EF4-FFF2-40B4-BE49-F238E27FC236}">
                <a16:creationId xmlns:a16="http://schemas.microsoft.com/office/drawing/2014/main" id="{6CD2DECC-795F-453D-AE73-FED0C20E38E2}"/>
              </a:ext>
            </a:extLst>
          </p:cNvPr>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Tree>
    <p:extLst>
      <p:ext uri="{BB962C8B-B14F-4D97-AF65-F5344CB8AC3E}">
        <p14:creationId xmlns:p14="http://schemas.microsoft.com/office/powerpoint/2010/main" val="296111915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No Content">
    <p:spTree>
      <p:nvGrpSpPr>
        <p:cNvPr id="1" name=""/>
        <p:cNvGrpSpPr/>
        <p:nvPr/>
      </p:nvGrpSpPr>
      <p:grpSpPr>
        <a:xfrm>
          <a:off x="0" y="0"/>
          <a:ext cx="0" cy="0"/>
          <a:chOff x="0" y="0"/>
          <a:chExt cx="0" cy="0"/>
        </a:xfrm>
      </p:grpSpPr>
      <p:sp>
        <p:nvSpPr>
          <p:cNvPr id="3" name="Date Placeholder 9">
            <a:extLst>
              <a:ext uri="{FF2B5EF4-FFF2-40B4-BE49-F238E27FC236}">
                <a16:creationId xmlns:a16="http://schemas.microsoft.com/office/drawing/2014/main" id="{B18377EC-49B2-4F4A-A62A-250F8457F094}"/>
              </a:ext>
            </a:extLst>
          </p:cNvPr>
          <p:cNvSpPr>
            <a:spLocks noGrp="1"/>
          </p:cNvSpPr>
          <p:nvPr>
            <p:ph type="dt" sz="half" idx="10"/>
          </p:nvPr>
        </p:nvSpPr>
        <p:spPr>
          <a:xfrm>
            <a:off x="8970433" y="6408741"/>
            <a:ext cx="2559051" cy="365125"/>
          </a:xfrm>
        </p:spPr>
        <p:txBody>
          <a:bodyPr/>
          <a:lstStyle>
            <a:lvl1pPr>
              <a:defRPr/>
            </a:lvl1pPr>
          </a:lstStyle>
          <a:p>
            <a:pPr>
              <a:defRPr/>
            </a:pPr>
            <a:fld id="{54169C2F-051B-4E34-B2AC-17E8814C3B83}" type="datetime1">
              <a:rPr lang="en-US" altLang="en-US" smtClean="0"/>
              <a:t>10/8/25</a:t>
            </a:fld>
            <a:endParaRPr lang="en-US" altLang="en-US"/>
          </a:p>
        </p:txBody>
      </p:sp>
      <p:sp>
        <p:nvSpPr>
          <p:cNvPr id="4" name="Footer Placeholder 21">
            <a:extLst>
              <a:ext uri="{FF2B5EF4-FFF2-40B4-BE49-F238E27FC236}">
                <a16:creationId xmlns:a16="http://schemas.microsoft.com/office/drawing/2014/main" id="{B893E797-9BE8-43E1-9DE5-7B455DD2F0E9}"/>
              </a:ext>
            </a:extLst>
          </p:cNvPr>
          <p:cNvSpPr>
            <a:spLocks noGrp="1"/>
          </p:cNvSpPr>
          <p:nvPr>
            <p:ph type="ftr" sz="quarter" idx="11"/>
          </p:nvPr>
        </p:nvSpPr>
        <p:spPr>
          <a:xfrm>
            <a:off x="5839884" y="6408741"/>
            <a:ext cx="3134783" cy="365125"/>
          </a:xfrm>
        </p:spPr>
        <p:txBody>
          <a:bodyPr/>
          <a:lstStyle>
            <a:lvl1pPr algn="ctr" eaLnBrk="1" latinLnBrk="0" hangingPunct="1">
              <a:defRPr kumimoji="0" sz="1000">
                <a:solidFill>
                  <a:schemeClr val="tx2"/>
                </a:solidFill>
              </a:defRPr>
            </a:lvl1pPr>
            <a:extLst/>
          </a:lstStyle>
          <a:p>
            <a:pPr>
              <a:defRPr/>
            </a:pPr>
            <a:r>
              <a:rPr lang="en-US" dirty="0"/>
              <a:t>Paper Number xx-xxx</a:t>
            </a:r>
          </a:p>
        </p:txBody>
      </p:sp>
      <p:sp>
        <p:nvSpPr>
          <p:cNvPr id="5" name="Slide Number Placeholder 17">
            <a:extLst>
              <a:ext uri="{FF2B5EF4-FFF2-40B4-BE49-F238E27FC236}">
                <a16:creationId xmlns:a16="http://schemas.microsoft.com/office/drawing/2014/main" id="{7B7F3E19-2F40-4654-A4AB-4507AA7B1EC3}"/>
              </a:ext>
            </a:extLst>
          </p:cNvPr>
          <p:cNvSpPr>
            <a:spLocks noGrp="1"/>
          </p:cNvSpPr>
          <p:nvPr>
            <p:ph type="sldNum" sz="quarter" idx="12"/>
          </p:nvPr>
        </p:nvSpPr>
        <p:spPr>
          <a:xfrm>
            <a:off x="11529484" y="6408741"/>
            <a:ext cx="488949" cy="365125"/>
          </a:xfrm>
        </p:spPr>
        <p:txBody>
          <a:bodyPr/>
          <a:lstStyle>
            <a:lvl1pPr>
              <a:defRPr/>
            </a:lvl1pPr>
          </a:lstStyle>
          <a:p>
            <a:pPr>
              <a:defRPr/>
            </a:pPr>
            <a:fld id="{51A8E585-845B-497D-BF2F-352F8654D138}" type="slidenum">
              <a:rPr lang="en-US" altLang="en-US"/>
              <a:pPr>
                <a:defRPr/>
              </a:pPr>
              <a:t>‹#›</a:t>
            </a:fld>
            <a:endParaRPr lang="en-US" altLang="en-US" sz="1100"/>
          </a:p>
        </p:txBody>
      </p:sp>
      <p:sp>
        <p:nvSpPr>
          <p:cNvPr id="6" name="Title 6">
            <a:extLst>
              <a:ext uri="{FF2B5EF4-FFF2-40B4-BE49-F238E27FC236}">
                <a16:creationId xmlns:a16="http://schemas.microsoft.com/office/drawing/2014/main" id="{D7339F21-8FDE-454B-8F10-CC2B36F76BC2}"/>
              </a:ext>
            </a:extLst>
          </p:cNvPr>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Tree>
    <p:extLst>
      <p:ext uri="{BB962C8B-B14F-4D97-AF65-F5344CB8AC3E}">
        <p14:creationId xmlns:p14="http://schemas.microsoft.com/office/powerpoint/2010/main" val="1267924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429AAF47-D912-4DD2-AA43-93D0BB19EC22}" type="datetime1">
              <a:rPr lang="en-US" altLang="en-US" smtClean="0"/>
              <a:t>10/8/25</a:t>
            </a:fld>
            <a:endParaRPr lang="en-US" altLang="en-US"/>
          </a:p>
        </p:txBody>
      </p:sp>
      <p:sp>
        <p:nvSpPr>
          <p:cNvPr id="3" name="Footer Placeholder 21"/>
          <p:cNvSpPr>
            <a:spLocks noGrp="1"/>
          </p:cNvSpPr>
          <p:nvPr>
            <p:ph type="ftr" sz="quarter" idx="11"/>
          </p:nvPr>
        </p:nvSpPr>
        <p:spPr/>
        <p:txBody>
          <a:bodyPr/>
          <a:lstStyle>
            <a:lvl1pPr>
              <a:defRPr/>
            </a:lvl1pPr>
          </a:lstStyle>
          <a:p>
            <a:pPr>
              <a:defRPr/>
            </a:pPr>
            <a:r>
              <a:rPr lang="en-US" dirty="0"/>
              <a:t>Paper Number xx-xxx</a:t>
            </a:r>
          </a:p>
        </p:txBody>
      </p:sp>
      <p:sp>
        <p:nvSpPr>
          <p:cNvPr id="4" name="Slide Number Placeholder 17"/>
          <p:cNvSpPr>
            <a:spLocks noGrp="1"/>
          </p:cNvSpPr>
          <p:nvPr>
            <p:ph type="sldNum" sz="quarter" idx="12"/>
          </p:nvPr>
        </p:nvSpPr>
        <p:spPr/>
        <p:txBody>
          <a:bodyPr/>
          <a:lstStyle>
            <a:lvl1pPr>
              <a:defRPr/>
            </a:lvl1pPr>
          </a:lstStyle>
          <a:p>
            <a:pPr>
              <a:defRPr/>
            </a:pPr>
            <a:fld id="{12D12448-CAF6-4A22-A237-37BB83832CC2}" type="slidenum">
              <a:rPr lang="en-US" altLang="en-US"/>
              <a:pPr>
                <a:defRPr/>
              </a:pPr>
              <a:t>‹#›</a:t>
            </a:fld>
            <a:endParaRPr lang="en-US" altLang="en-US" sz="1100"/>
          </a:p>
        </p:txBody>
      </p:sp>
    </p:spTree>
    <p:extLst>
      <p:ext uri="{BB962C8B-B14F-4D97-AF65-F5344CB8AC3E}">
        <p14:creationId xmlns:p14="http://schemas.microsoft.com/office/powerpoint/2010/main" val="1011638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9000">
              <a:schemeClr val="accent1">
                <a:tint val="66000"/>
                <a:satMod val="160000"/>
              </a:schemeClr>
            </a:gs>
            <a:gs pos="50000">
              <a:schemeClr val="accent1">
                <a:tint val="44500"/>
                <a:satMod val="160000"/>
              </a:schemeClr>
            </a:gs>
            <a:gs pos="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2362200" y="301752"/>
            <a:ext cx="92202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33" name="Text Placeholder 29"/>
          <p:cNvSpPr>
            <a:spLocks noGrp="1"/>
          </p:cNvSpPr>
          <p:nvPr>
            <p:ph type="body" idx="1"/>
          </p:nvPr>
        </p:nvSpPr>
        <p:spPr bwMode="auto">
          <a:xfrm>
            <a:off x="609600" y="1600200"/>
            <a:ext cx="109728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Date Placeholder 9"/>
          <p:cNvSpPr>
            <a:spLocks noGrp="1"/>
          </p:cNvSpPr>
          <p:nvPr>
            <p:ph type="dt" sz="half" idx="2"/>
          </p:nvPr>
        </p:nvSpPr>
        <p:spPr>
          <a:xfrm>
            <a:off x="8970433" y="6408741"/>
            <a:ext cx="2559051" cy="365125"/>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000">
                <a:solidFill>
                  <a:schemeClr val="tx2"/>
                </a:solidFill>
              </a:defRPr>
            </a:lvl1pPr>
          </a:lstStyle>
          <a:p>
            <a:pPr>
              <a:defRPr/>
            </a:pPr>
            <a:fld id="{72E470AB-BCE4-41CD-BB1E-89173243B18D}" type="datetime1">
              <a:rPr lang="en-US" altLang="en-US" smtClean="0"/>
              <a:t>10/8/25</a:t>
            </a:fld>
            <a:endParaRPr lang="en-US" altLang="en-US"/>
          </a:p>
        </p:txBody>
      </p:sp>
      <p:sp>
        <p:nvSpPr>
          <p:cNvPr id="22" name="Footer Placeholder 21"/>
          <p:cNvSpPr>
            <a:spLocks noGrp="1"/>
          </p:cNvSpPr>
          <p:nvPr>
            <p:ph type="ftr" sz="quarter" idx="3"/>
          </p:nvPr>
        </p:nvSpPr>
        <p:spPr>
          <a:xfrm>
            <a:off x="5839884" y="6408741"/>
            <a:ext cx="3134783" cy="365125"/>
          </a:xfrm>
          <a:prstGeom prst="rect">
            <a:avLst/>
          </a:prstGeom>
        </p:spPr>
        <p:txBody>
          <a:bodyPr vert="horz" anchor="b"/>
          <a:lstStyle>
            <a:lvl1pPr algn="ctr" eaLnBrk="1" fontAlgn="auto" latinLnBrk="0" hangingPunct="1">
              <a:spcBef>
                <a:spcPts val="0"/>
              </a:spcBef>
              <a:spcAft>
                <a:spcPts val="0"/>
              </a:spcAft>
              <a:defRPr kumimoji="0" sz="1000">
                <a:solidFill>
                  <a:schemeClr val="tx2"/>
                </a:solidFill>
                <a:latin typeface="+mn-lt"/>
                <a:ea typeface="+mn-ea"/>
                <a:cs typeface="+mn-cs"/>
              </a:defRPr>
            </a:lvl1pPr>
            <a:extLst/>
          </a:lstStyle>
          <a:p>
            <a:pPr>
              <a:defRPr/>
            </a:pPr>
            <a:r>
              <a:rPr lang="en-US" dirty="0"/>
              <a:t>Paper Number xx-xxx</a:t>
            </a:r>
          </a:p>
        </p:txBody>
      </p:sp>
      <p:sp>
        <p:nvSpPr>
          <p:cNvPr id="18" name="Slide Number Placeholder 17"/>
          <p:cNvSpPr>
            <a:spLocks noGrp="1"/>
          </p:cNvSpPr>
          <p:nvPr>
            <p:ph type="sldNum" sz="quarter" idx="4"/>
          </p:nvPr>
        </p:nvSpPr>
        <p:spPr>
          <a:xfrm>
            <a:off x="11529484" y="6408741"/>
            <a:ext cx="488949"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solidFill>
                  <a:schemeClr val="tx2"/>
                </a:solidFill>
              </a:defRPr>
            </a:lvl1pPr>
          </a:lstStyle>
          <a:p>
            <a:pPr>
              <a:defRPr/>
            </a:pPr>
            <a:fld id="{1C339704-F9B3-4C6B-B54B-06AD26381A4A}" type="slidenum">
              <a:rPr lang="en-US" altLang="en-US"/>
              <a:pPr>
                <a:defRPr/>
              </a:pPr>
              <a:t>‹#›</a:t>
            </a:fld>
            <a:endParaRPr lang="en-US" altLang="en-US" sz="1100"/>
          </a:p>
        </p:txBody>
      </p:sp>
      <p:pic>
        <p:nvPicPr>
          <p:cNvPr id="3" name="Picture 2">
            <a:extLst>
              <a:ext uri="{FF2B5EF4-FFF2-40B4-BE49-F238E27FC236}">
                <a16:creationId xmlns:a16="http://schemas.microsoft.com/office/drawing/2014/main" id="{2AAA1595-A737-3A15-ACB3-E934751CE127}"/>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04800" y="-152400"/>
            <a:ext cx="1905000" cy="1905000"/>
          </a:xfrm>
          <a:prstGeom prst="rect">
            <a:avLst/>
          </a:prstGeom>
        </p:spPr>
      </p:pic>
    </p:spTree>
  </p:cSld>
  <p:clrMap bg1="lt1" tx1="dk1" bg2="lt2" tx2="dk2" accent1="accent1" accent2="accent2" accent3="accent3" accent4="accent4" accent5="accent5" accent6="accent6" hlink="hlink" folHlink="folHlink"/>
  <p:sldLayoutIdLst>
    <p:sldLayoutId id="2147483765" r:id="rId1"/>
    <p:sldLayoutId id="2147483761" r:id="rId2"/>
    <p:sldLayoutId id="2147483766" r:id="rId3"/>
    <p:sldLayoutId id="2147483767" r:id="rId4"/>
    <p:sldLayoutId id="2147483762" r:id="rId5"/>
    <p:sldLayoutId id="2147483758" r:id="rId6"/>
    <p:sldLayoutId id="2147483763" r:id="rId7"/>
    <p:sldLayoutId id="2147483764" r:id="rId8"/>
    <p:sldLayoutId id="2147483759" r:id="rId9"/>
  </p:sldLayoutIdLst>
  <p:hf hdr="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S PGothic" panose="020B0600070205080204" pitchFamily="34" charset="-128"/>
          <a:cs typeface="+mj-cs"/>
        </a:defRPr>
      </a:lvl1pPr>
      <a:lvl2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2pPr>
      <a:lvl3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3pPr>
      <a:lvl4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4pPr>
      <a:lvl5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5pPr>
      <a:lvl6pPr marL="457200" algn="l" rtl="0" eaLnBrk="1" fontAlgn="base" hangingPunct="1">
        <a:spcBef>
          <a:spcPct val="0"/>
        </a:spcBef>
        <a:spcAft>
          <a:spcPct val="0"/>
        </a:spcAft>
        <a:defRPr sz="4100" b="1">
          <a:solidFill>
            <a:schemeClr val="tx2"/>
          </a:solidFill>
          <a:latin typeface="Lucida Sans Unicode" charset="0"/>
          <a:ea typeface="ＭＳ Ｐゴシック" charset="0"/>
        </a:defRPr>
      </a:lvl6pPr>
      <a:lvl7pPr marL="914400" algn="l" rtl="0" eaLnBrk="1" fontAlgn="base" hangingPunct="1">
        <a:spcBef>
          <a:spcPct val="0"/>
        </a:spcBef>
        <a:spcAft>
          <a:spcPct val="0"/>
        </a:spcAft>
        <a:defRPr sz="4100" b="1">
          <a:solidFill>
            <a:schemeClr val="tx2"/>
          </a:solidFill>
          <a:latin typeface="Lucida Sans Unicode" charset="0"/>
          <a:ea typeface="ＭＳ Ｐゴシック" charset="0"/>
        </a:defRPr>
      </a:lvl7pPr>
      <a:lvl8pPr marL="1371600" algn="l" rtl="0" eaLnBrk="1" fontAlgn="base" hangingPunct="1">
        <a:spcBef>
          <a:spcPct val="0"/>
        </a:spcBef>
        <a:spcAft>
          <a:spcPct val="0"/>
        </a:spcAft>
        <a:defRPr sz="4100" b="1">
          <a:solidFill>
            <a:schemeClr val="tx2"/>
          </a:solidFill>
          <a:latin typeface="Lucida Sans Unicode" charset="0"/>
          <a:ea typeface="ＭＳ Ｐゴシック" charset="0"/>
        </a:defRPr>
      </a:lvl8pPr>
      <a:lvl9pPr marL="1828800" algn="l" rtl="0" eaLnBrk="1" fontAlgn="base" hangingPunct="1">
        <a:spcBef>
          <a:spcPct val="0"/>
        </a:spcBef>
        <a:spcAft>
          <a:spcPct val="0"/>
        </a:spcAft>
        <a:defRPr sz="4100" b="1">
          <a:solidFill>
            <a:schemeClr val="tx2"/>
          </a:solidFill>
          <a:latin typeface="Lucida Sans Unicode" charset="0"/>
          <a:ea typeface="ＭＳ Ｐゴシック"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S PGothic" panose="020B0600070205080204" pitchFamily="34" charset="-128"/>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S PGothic" panose="020B0600070205080204" pitchFamily="34" charset="-128"/>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S PGothic" panose="020B0600070205080204" pitchFamily="34" charset="-128"/>
          <a:cs typeface="+mn-cs"/>
        </a:defRPr>
      </a:lvl3pPr>
      <a:lvl4pPr marL="1143000" indent="-228600" algn="l" rtl="0" eaLnBrk="1" fontAlgn="base" hangingPunct="1">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S PGothic" panose="020B0600070205080204" pitchFamily="34" charset="-128"/>
          <a:cs typeface="+mn-cs"/>
        </a:defRPr>
      </a:lvl4pPr>
      <a:lvl5pPr marL="1371600" indent="-228600" algn="l" rtl="0" eaLnBrk="1" fontAlgn="base" hangingPunct="1">
        <a:spcBef>
          <a:spcPts val="350"/>
        </a:spcBef>
        <a:spcAft>
          <a:spcPct val="0"/>
        </a:spcAft>
        <a:buClr>
          <a:schemeClr val="accent2"/>
        </a:buClr>
        <a:buFont typeface="Wingdings 2" panose="05020102010507070707" pitchFamily="18" charset="2"/>
        <a:buChar char=""/>
        <a:defRPr kern="1200">
          <a:solidFill>
            <a:schemeClr val="tx1"/>
          </a:solidFill>
          <a:latin typeface="+mn-lt"/>
          <a:ea typeface="MS PGothic" panose="020B0600070205080204" pitchFamily="34" charset="-128"/>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7.png"/><Relationship Id="rId1" Type="http://schemas.openxmlformats.org/officeDocument/2006/relationships/slideLayout" Target="../slideLayouts/slideLayout8.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emf"/><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2.gif"/><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7.emf"/><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32.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7.emf"/><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hyperlink" Target="https://pharmar.org/repository/"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35.jpe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8" Type="http://schemas.openxmlformats.org/officeDocument/2006/relationships/hyperlink" Target="https://lists.r-consortium.org/g/RConsortium-Validation-Hub" TargetMode="External"/><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image" Target="../media/image37.png"/><Relationship Id="rId1" Type="http://schemas.openxmlformats.org/officeDocument/2006/relationships/slideLayout" Target="../slideLayouts/slideLayout8.xml"/><Relationship Id="rId6" Type="http://schemas.openxmlformats.org/officeDocument/2006/relationships/image" Target="../media/image41.png"/><Relationship Id="rId11" Type="http://schemas.openxmlformats.org/officeDocument/2006/relationships/image" Target="../media/image7.emf"/><Relationship Id="rId5" Type="http://schemas.openxmlformats.org/officeDocument/2006/relationships/image" Target="../media/image40.svg"/><Relationship Id="rId10" Type="http://schemas.openxmlformats.org/officeDocument/2006/relationships/image" Target="../media/image44.svg"/><Relationship Id="rId4" Type="http://schemas.openxmlformats.org/officeDocument/2006/relationships/image" Target="../media/image39.png"/><Relationship Id="rId9"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hyperlink" Target="mailto:Anuja.das@biogen.com"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9CB1E-6D17-D38C-E5C8-60EBC8B6A238}"/>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B9A1C742-6320-CA11-0396-7BCEA025A91C}"/>
              </a:ext>
            </a:extLst>
          </p:cNvPr>
          <p:cNvSpPr>
            <a:spLocks noGrp="1"/>
          </p:cNvSpPr>
          <p:nvPr>
            <p:ph type="body" sz="quarter" idx="13"/>
          </p:nvPr>
        </p:nvSpPr>
        <p:spPr>
          <a:xfrm>
            <a:off x="762000" y="2705100"/>
            <a:ext cx="10820400" cy="3162300"/>
          </a:xfrm>
        </p:spPr>
        <p:txBody>
          <a:bodyPr/>
          <a:lstStyle/>
          <a:p>
            <a:r>
              <a:rPr lang="en-US" b="1" dirty="0"/>
              <a:t>Anuja Das </a:t>
            </a:r>
          </a:p>
          <a:p>
            <a:r>
              <a:rPr lang="en-US" altLang="en-US" sz="1400" dirty="0">
                <a:latin typeface="Arial" panose="020B0604020202020204" pitchFamily="34" charset="0"/>
              </a:rPr>
              <a:t>Anuja Das is a Technology Project Specialist within the Data Visualizations and Application Development group at Biogen and a member of the Communications Workstream within the R Validation Hub. She enjoys bringing innovation, automation, and new ways of working to the existing clinical submissions process and has led projects that deploy applications created in multiple languages that enable better data review and output generation. </a:t>
            </a:r>
          </a:p>
          <a:p>
            <a:endParaRPr lang="en-US" altLang="en-US" sz="1400" dirty="0">
              <a:latin typeface="Arial" panose="020B0604020202020204" pitchFamily="34" charset="0"/>
            </a:endParaRPr>
          </a:p>
          <a:p>
            <a:r>
              <a:rPr lang="en-US" altLang="en-US" b="1" dirty="0"/>
              <a:t>Jaxon Abercrombie</a:t>
            </a:r>
          </a:p>
          <a:p>
            <a:r>
              <a:rPr lang="en-US" altLang="en-US" sz="1400" dirty="0">
                <a:latin typeface="Arial" panose="020B0604020202020204" pitchFamily="34" charset="0"/>
              </a:rPr>
              <a:t>Jaxon Abercrombie is a Data Scientist at Genentech with a core focus on analyzing clinical trial data and supporting regulatory submissions, particularly for GLP-1/GIP receptor agonist therapies. Beyond his core work, Jaxon is an advocate for open-source tools, loves creating visualizations, and has contributed to the R Validation Hub Communications Workstream since 2023.</a:t>
            </a:r>
            <a:endParaRPr lang="en-US" altLang="en-US" b="1" dirty="0"/>
          </a:p>
          <a:p>
            <a:endParaRPr lang="en-US" dirty="0"/>
          </a:p>
        </p:txBody>
      </p:sp>
      <p:sp>
        <p:nvSpPr>
          <p:cNvPr id="12" name="Title 11">
            <a:extLst>
              <a:ext uri="{FF2B5EF4-FFF2-40B4-BE49-F238E27FC236}">
                <a16:creationId xmlns:a16="http://schemas.microsoft.com/office/drawing/2014/main" id="{6D82D1E6-77B8-5A5C-E449-D3D221A534EF}"/>
              </a:ext>
            </a:extLst>
          </p:cNvPr>
          <p:cNvSpPr>
            <a:spLocks noGrp="1"/>
          </p:cNvSpPr>
          <p:nvPr>
            <p:ph type="title"/>
          </p:nvPr>
        </p:nvSpPr>
        <p:spPr>
          <a:xfrm>
            <a:off x="2336799" y="685800"/>
            <a:ext cx="9245601" cy="1143000"/>
          </a:xfrm>
        </p:spPr>
        <p:txBody>
          <a:bodyPr>
            <a:noAutofit/>
          </a:bodyPr>
          <a:lstStyle/>
          <a:p>
            <a:r>
              <a:rPr lang="en-US" dirty="0"/>
              <a:t>Validating R for Pharma</a:t>
            </a:r>
            <a:br>
              <a:rPr lang="en-US" dirty="0"/>
            </a:br>
            <a:r>
              <a:rPr lang="en-US" sz="1600" spc="300" dirty="0">
                <a:solidFill>
                  <a:schemeClr val="tx1">
                    <a:lumMod val="50000"/>
                    <a:lumOff val="50000"/>
                  </a:schemeClr>
                </a:solidFill>
              </a:rPr>
              <a:t>Streamlining the Validation of Open-Source R Packages within Highly Regulated Pharmaceutical Work</a:t>
            </a:r>
            <a:br>
              <a:rPr lang="en-US" spc="300" dirty="0">
                <a:solidFill>
                  <a:schemeClr val="tx1">
                    <a:lumMod val="50000"/>
                    <a:lumOff val="50000"/>
                  </a:schemeClr>
                </a:solidFill>
              </a:rPr>
            </a:br>
            <a:endParaRPr lang="en-US" dirty="0"/>
          </a:p>
        </p:txBody>
      </p:sp>
    </p:spTree>
    <p:extLst>
      <p:ext uri="{BB962C8B-B14F-4D97-AF65-F5344CB8AC3E}">
        <p14:creationId xmlns:p14="http://schemas.microsoft.com/office/powerpoint/2010/main" val="2636683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B89293-7C86-6D2D-212A-2D57FD456443}"/>
              </a:ext>
            </a:extLst>
          </p:cNvPr>
          <p:cNvSpPr>
            <a:spLocks noGrp="1"/>
          </p:cNvSpPr>
          <p:nvPr>
            <p:ph type="title"/>
          </p:nvPr>
        </p:nvSpPr>
        <p:spPr/>
        <p:txBody>
          <a:bodyPr/>
          <a:lstStyle/>
          <a:p>
            <a:r>
              <a:rPr lang="en-US" dirty="0"/>
              <a:t>Agenda</a:t>
            </a:r>
          </a:p>
        </p:txBody>
      </p:sp>
      <p:graphicFrame>
        <p:nvGraphicFramePr>
          <p:cNvPr id="5" name="Content Placeholder 15">
            <a:extLst>
              <a:ext uri="{FF2B5EF4-FFF2-40B4-BE49-F238E27FC236}">
                <a16:creationId xmlns:a16="http://schemas.microsoft.com/office/drawing/2014/main" id="{454BC3CA-5C22-D3EB-EF4B-418A5C2EB9DF}"/>
              </a:ext>
            </a:extLst>
          </p:cNvPr>
          <p:cNvGraphicFramePr>
            <a:graphicFrameLocks/>
          </p:cNvGraphicFramePr>
          <p:nvPr>
            <p:extLst>
              <p:ext uri="{D42A27DB-BD31-4B8C-83A1-F6EECF244321}">
                <p14:modId xmlns:p14="http://schemas.microsoft.com/office/powerpoint/2010/main" val="740473978"/>
              </p:ext>
            </p:extLst>
          </p:nvPr>
        </p:nvGraphicFramePr>
        <p:xfrm>
          <a:off x="1088133" y="1731457"/>
          <a:ext cx="9252458" cy="5050976"/>
        </p:xfrm>
        <a:graphic>
          <a:graphicData uri="http://schemas.openxmlformats.org/drawingml/2006/table">
            <a:tbl>
              <a:tblPr firstRow="1" bandRow="1">
                <a:tableStyleId>{21E4AEA4-8DFA-4A89-87EB-49C32662AFE0}</a:tableStyleId>
              </a:tblPr>
              <a:tblGrid>
                <a:gridCol w="5556372">
                  <a:extLst>
                    <a:ext uri="{9D8B030D-6E8A-4147-A177-3AD203B41FA5}">
                      <a16:colId xmlns:a16="http://schemas.microsoft.com/office/drawing/2014/main" val="20000"/>
                    </a:ext>
                  </a:extLst>
                </a:gridCol>
                <a:gridCol w="3696086">
                  <a:extLst>
                    <a:ext uri="{9D8B030D-6E8A-4147-A177-3AD203B41FA5}">
                      <a16:colId xmlns:a16="http://schemas.microsoft.com/office/drawing/2014/main" val="20001"/>
                    </a:ext>
                  </a:extLst>
                </a:gridCol>
              </a:tblGrid>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What is the R Validation Hub?</a:t>
                      </a:r>
                    </a:p>
                  </a:txBody>
                  <a:tcPr marL="103600" marR="48141" marT="31883" marB="31883" anchor="ctr" horzOverflow="overflow">
                    <a:lnL w="12700" cmpd="sng">
                      <a:noFill/>
                    </a:lnL>
                    <a:lnR w="12700" cmpd="sng">
                      <a:noFill/>
                    </a:lnR>
                    <a:lnT w="12700" cap="flat" cmpd="sng" algn="ctr">
                      <a:noFill/>
                      <a:prstDash val="solid"/>
                      <a:round/>
                      <a:headEnd type="none" w="med" len="med"/>
                      <a:tailEnd type="none" w="med" len="med"/>
                    </a:lnT>
                    <a:lnB w="12700" cap="flat" cmpd="sng" algn="ctr">
                      <a:solidFill>
                        <a:srgbClr val="B7B7B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8125" marR="0" lvl="0" indent="0"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noFill/>
                      <a:prstDash val="solid"/>
                      <a:round/>
                      <a:headEnd type="none" w="med" len="med"/>
                      <a:tailEnd type="none" w="med" len="med"/>
                    </a:lnT>
                    <a:lnB w="12700" cap="flat" cmpd="sng" algn="ctr">
                      <a:solidFill>
                        <a:srgbClr val="B7B7B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The White Paper</a:t>
                      </a:r>
                    </a:p>
                  </a:txBody>
                  <a:tcPr marL="103600" marR="48141" marT="31883" marB="31883" anchor="ctr" horzOverflow="overflow">
                    <a:lnL w="12700" cmpd="sng">
                      <a:noFill/>
                    </a:lnL>
                    <a:lnR w="12700" cmpd="sng">
                      <a:noFill/>
                    </a:lnR>
                    <a:lnT w="12700" cap="flat" cmpd="sng" algn="ctr">
                      <a:solidFill>
                        <a:srgbClr val="B7B7B7"/>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B7B7B7"/>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a:t>
                      </a:r>
                      <a:r>
                        <a:rPr kumimoji="0" lang="en-US" sz="1800" b="1" i="0" u="none" strike="noStrike" cap="none" normalizeH="0" baseline="0" dirty="0" err="1">
                          <a:ln>
                            <a:noFill/>
                          </a:ln>
                          <a:solidFill>
                            <a:schemeClr val="accent1"/>
                          </a:solidFill>
                          <a:effectLst/>
                          <a:latin typeface="+mn-lt"/>
                          <a:ea typeface="Verdana" charset="0"/>
                          <a:cs typeface="Verdana" charset="0"/>
                        </a:rPr>
                        <a:t>riskmetric</a:t>
                      </a:r>
                      <a:r>
                        <a:rPr kumimoji="0" lang="en-US" sz="1800" b="1" i="0" u="none" strike="noStrike" cap="none" normalizeH="0" baseline="0" dirty="0">
                          <a:ln>
                            <a:noFill/>
                          </a:ln>
                          <a:solidFill>
                            <a:schemeClr val="accent1"/>
                          </a:solidFill>
                          <a:effectLst/>
                          <a:latin typeface="+mn-lt"/>
                          <a:ea typeface="Verdana" charset="0"/>
                          <a:cs typeface="Verdana" charset="0"/>
                        </a:rPr>
                        <a:t>}</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a:t>
                      </a:r>
                      <a:r>
                        <a:rPr kumimoji="0" lang="en-US" sz="1800" b="1" i="0" u="none" strike="noStrike" cap="none" normalizeH="0" baseline="0" dirty="0" err="1">
                          <a:ln>
                            <a:noFill/>
                          </a:ln>
                          <a:solidFill>
                            <a:schemeClr val="accent1"/>
                          </a:solidFill>
                          <a:effectLst/>
                          <a:latin typeface="+mn-lt"/>
                          <a:ea typeface="Verdana" charset="0"/>
                          <a:cs typeface="Verdana" charset="0"/>
                        </a:rPr>
                        <a:t>riskassessment</a:t>
                      </a:r>
                      <a:r>
                        <a:rPr kumimoji="0" lang="en-US" sz="1800" b="1" i="0" u="none" strike="noStrike" cap="none" normalizeH="0" baseline="0" dirty="0">
                          <a:ln>
                            <a:noFill/>
                          </a:ln>
                          <a:solidFill>
                            <a:schemeClr val="accent1"/>
                          </a:solidFill>
                          <a:effectLst/>
                          <a:latin typeface="+mn-lt"/>
                          <a:ea typeface="Verdana" charset="0"/>
                          <a:cs typeface="Verdana" charset="0"/>
                        </a:rPr>
                        <a:t>}</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{val.*} Packages</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Regulatory R Repository </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297295"/>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Communications</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5200604"/>
                  </a:ext>
                </a:extLst>
              </a:tr>
            </a:tbl>
          </a:graphicData>
        </a:graphic>
      </p:graphicFrame>
      <p:sp>
        <p:nvSpPr>
          <p:cNvPr id="6" name="Rectangle 5">
            <a:extLst>
              <a:ext uri="{FF2B5EF4-FFF2-40B4-BE49-F238E27FC236}">
                <a16:creationId xmlns:a16="http://schemas.microsoft.com/office/drawing/2014/main" id="{39289318-A490-E855-9EA9-E9BC9850C43F}"/>
              </a:ext>
            </a:extLst>
          </p:cNvPr>
          <p:cNvSpPr/>
          <p:nvPr/>
        </p:nvSpPr>
        <p:spPr>
          <a:xfrm>
            <a:off x="463804" y="1931977"/>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1</a:t>
            </a:r>
          </a:p>
        </p:txBody>
      </p:sp>
      <p:sp>
        <p:nvSpPr>
          <p:cNvPr id="7" name="Rectangle 6">
            <a:extLst>
              <a:ext uri="{FF2B5EF4-FFF2-40B4-BE49-F238E27FC236}">
                <a16:creationId xmlns:a16="http://schemas.microsoft.com/office/drawing/2014/main" id="{55C2B374-5375-8E3B-4412-3A7A23BA83D6}"/>
              </a:ext>
            </a:extLst>
          </p:cNvPr>
          <p:cNvSpPr/>
          <p:nvPr/>
        </p:nvSpPr>
        <p:spPr>
          <a:xfrm>
            <a:off x="463804" y="2634812"/>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2</a:t>
            </a:r>
          </a:p>
        </p:txBody>
      </p:sp>
      <p:sp>
        <p:nvSpPr>
          <p:cNvPr id="8" name="Rectangle 7">
            <a:extLst>
              <a:ext uri="{FF2B5EF4-FFF2-40B4-BE49-F238E27FC236}">
                <a16:creationId xmlns:a16="http://schemas.microsoft.com/office/drawing/2014/main" id="{7CA6C2AC-92E1-F762-9906-AAE285670509}"/>
              </a:ext>
            </a:extLst>
          </p:cNvPr>
          <p:cNvSpPr/>
          <p:nvPr/>
        </p:nvSpPr>
        <p:spPr>
          <a:xfrm>
            <a:off x="454381" y="3348353"/>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3</a:t>
            </a:r>
          </a:p>
        </p:txBody>
      </p:sp>
      <p:sp>
        <p:nvSpPr>
          <p:cNvPr id="9" name="Rectangle 8">
            <a:extLst>
              <a:ext uri="{FF2B5EF4-FFF2-40B4-BE49-F238E27FC236}">
                <a16:creationId xmlns:a16="http://schemas.microsoft.com/office/drawing/2014/main" id="{239DD2E4-01E1-5B5F-A2C9-A21BFEAABCCB}"/>
              </a:ext>
            </a:extLst>
          </p:cNvPr>
          <p:cNvSpPr/>
          <p:nvPr/>
        </p:nvSpPr>
        <p:spPr>
          <a:xfrm>
            <a:off x="463804" y="4054728"/>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4</a:t>
            </a:r>
          </a:p>
        </p:txBody>
      </p:sp>
      <p:sp>
        <p:nvSpPr>
          <p:cNvPr id="10" name="Rectangle 9">
            <a:extLst>
              <a:ext uri="{FF2B5EF4-FFF2-40B4-BE49-F238E27FC236}">
                <a16:creationId xmlns:a16="http://schemas.microsoft.com/office/drawing/2014/main" id="{7632708F-BC00-BB28-53C3-440E7E797A98}"/>
              </a:ext>
            </a:extLst>
          </p:cNvPr>
          <p:cNvSpPr/>
          <p:nvPr/>
        </p:nvSpPr>
        <p:spPr>
          <a:xfrm>
            <a:off x="454381" y="4761103"/>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5</a:t>
            </a:r>
          </a:p>
        </p:txBody>
      </p:sp>
      <p:sp>
        <p:nvSpPr>
          <p:cNvPr id="11" name="Rectangle 10">
            <a:extLst>
              <a:ext uri="{FF2B5EF4-FFF2-40B4-BE49-F238E27FC236}">
                <a16:creationId xmlns:a16="http://schemas.microsoft.com/office/drawing/2014/main" id="{291547A0-4281-2426-095E-B69F97DB6103}"/>
              </a:ext>
            </a:extLst>
          </p:cNvPr>
          <p:cNvSpPr/>
          <p:nvPr/>
        </p:nvSpPr>
        <p:spPr>
          <a:xfrm>
            <a:off x="454381" y="5467478"/>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6</a:t>
            </a:r>
          </a:p>
        </p:txBody>
      </p:sp>
      <p:pic>
        <p:nvPicPr>
          <p:cNvPr id="12" name="Graphic 11">
            <a:extLst>
              <a:ext uri="{FF2B5EF4-FFF2-40B4-BE49-F238E27FC236}">
                <a16:creationId xmlns:a16="http://schemas.microsoft.com/office/drawing/2014/main" id="{D70E0EED-AF67-F753-6EE7-D06CF8E1E6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0" y="259071"/>
            <a:ext cx="1679219" cy="1679219"/>
          </a:xfrm>
          <a:prstGeom prst="rect">
            <a:avLst/>
          </a:prstGeom>
        </p:spPr>
      </p:pic>
      <p:sp>
        <p:nvSpPr>
          <p:cNvPr id="13" name="Rectangle 12">
            <a:extLst>
              <a:ext uri="{FF2B5EF4-FFF2-40B4-BE49-F238E27FC236}">
                <a16:creationId xmlns:a16="http://schemas.microsoft.com/office/drawing/2014/main" id="{9E4E4829-854E-6071-4A12-8235E4633096}"/>
              </a:ext>
            </a:extLst>
          </p:cNvPr>
          <p:cNvSpPr/>
          <p:nvPr/>
        </p:nvSpPr>
        <p:spPr>
          <a:xfrm>
            <a:off x="454381" y="6191687"/>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7</a:t>
            </a:r>
          </a:p>
        </p:txBody>
      </p:sp>
    </p:spTree>
    <p:extLst>
      <p:ext uri="{BB962C8B-B14F-4D97-AF65-F5344CB8AC3E}">
        <p14:creationId xmlns:p14="http://schemas.microsoft.com/office/powerpoint/2010/main" val="2519753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9311F9-B1CB-DA1A-2B80-F53C7EB4204E}"/>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94FFC662-E37F-DA25-82F4-65100556AC27}"/>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2311BCDF-2449-795A-9EBA-B68F8ABBA2E6}"/>
              </a:ext>
            </a:extLst>
          </p:cNvPr>
          <p:cNvSpPr>
            <a:spLocks noGrp="1"/>
          </p:cNvSpPr>
          <p:nvPr>
            <p:ph type="sldNum" sz="quarter" idx="12"/>
          </p:nvPr>
        </p:nvSpPr>
        <p:spPr/>
        <p:txBody>
          <a:bodyPr/>
          <a:lstStyle/>
          <a:p>
            <a:pPr>
              <a:defRPr/>
            </a:pPr>
            <a:fld id="{51A8E585-845B-497D-BF2F-352F8654D138}" type="slidenum">
              <a:rPr lang="en-US" altLang="en-US" smtClean="0"/>
              <a:pPr>
                <a:defRPr/>
              </a:pPr>
              <a:t>3</a:t>
            </a:fld>
            <a:endParaRPr lang="en-US" altLang="en-US" sz="1100"/>
          </a:p>
        </p:txBody>
      </p:sp>
      <p:sp>
        <p:nvSpPr>
          <p:cNvPr id="5" name="Title 4">
            <a:extLst>
              <a:ext uri="{FF2B5EF4-FFF2-40B4-BE49-F238E27FC236}">
                <a16:creationId xmlns:a16="http://schemas.microsoft.com/office/drawing/2014/main" id="{4FD94D37-8D21-A126-40BB-7E9E9C14767C}"/>
              </a:ext>
            </a:extLst>
          </p:cNvPr>
          <p:cNvSpPr>
            <a:spLocks noGrp="1"/>
          </p:cNvSpPr>
          <p:nvPr>
            <p:ph type="title"/>
          </p:nvPr>
        </p:nvSpPr>
        <p:spPr/>
        <p:txBody>
          <a:bodyPr/>
          <a:lstStyle/>
          <a:p>
            <a:r>
              <a:rPr lang="en-US" dirty="0"/>
              <a:t>But First…</a:t>
            </a:r>
          </a:p>
        </p:txBody>
      </p:sp>
      <p:pic>
        <p:nvPicPr>
          <p:cNvPr id="6" name="Picture 2" descr="Icebreaker | Gartic Phone Wiki | Fandom">
            <a:extLst>
              <a:ext uri="{FF2B5EF4-FFF2-40B4-BE49-F238E27FC236}">
                <a16:creationId xmlns:a16="http://schemas.microsoft.com/office/drawing/2014/main" id="{8CEA2A14-5D28-87B3-65FA-B1C2ACF6A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8004032" y="298515"/>
            <a:ext cx="1932802" cy="193280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qr code with a black and white background&#10;&#10;AI-generated content may be incorrect.">
            <a:extLst>
              <a:ext uri="{FF2B5EF4-FFF2-40B4-BE49-F238E27FC236}">
                <a16:creationId xmlns:a16="http://schemas.microsoft.com/office/drawing/2014/main" id="{D7272F56-93F2-FC73-737C-C0DAA0AB4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6348" y="1818619"/>
            <a:ext cx="4219303" cy="4219303"/>
          </a:xfrm>
          <a:prstGeom prst="rect">
            <a:avLst/>
          </a:prstGeom>
          <a:ln w="38100">
            <a:solidFill>
              <a:schemeClr val="bg1"/>
            </a:solidFill>
          </a:ln>
        </p:spPr>
      </p:pic>
      <p:pic>
        <p:nvPicPr>
          <p:cNvPr id="8" name="Picture 7">
            <a:extLst>
              <a:ext uri="{FF2B5EF4-FFF2-40B4-BE49-F238E27FC236}">
                <a16:creationId xmlns:a16="http://schemas.microsoft.com/office/drawing/2014/main" id="{8FF1FA02-11BB-E38A-6A79-68EB3FE35ECD}"/>
              </a:ext>
            </a:extLst>
          </p:cNvPr>
          <p:cNvPicPr>
            <a:picLocks noChangeAspect="1"/>
          </p:cNvPicPr>
          <p:nvPr/>
        </p:nvPicPr>
        <p:blipFill>
          <a:blip r:embed="rId4">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377463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06492C-10A3-686F-FD31-56EA0D35A5DC}"/>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42D93A60-0390-F821-5BEA-113459BE921F}"/>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4D7C6E69-518C-3C8F-7D68-44109A1E4280}"/>
              </a:ext>
            </a:extLst>
          </p:cNvPr>
          <p:cNvSpPr>
            <a:spLocks noGrp="1"/>
          </p:cNvSpPr>
          <p:nvPr>
            <p:ph type="sldNum" sz="quarter" idx="12"/>
          </p:nvPr>
        </p:nvSpPr>
        <p:spPr/>
        <p:txBody>
          <a:bodyPr/>
          <a:lstStyle/>
          <a:p>
            <a:pPr>
              <a:defRPr/>
            </a:pPr>
            <a:fld id="{51A8E585-845B-497D-BF2F-352F8654D138}" type="slidenum">
              <a:rPr lang="en-US" altLang="en-US" smtClean="0"/>
              <a:pPr>
                <a:defRPr/>
              </a:pPr>
              <a:t>4</a:t>
            </a:fld>
            <a:endParaRPr lang="en-US" altLang="en-US" sz="1100"/>
          </a:p>
        </p:txBody>
      </p:sp>
      <p:sp>
        <p:nvSpPr>
          <p:cNvPr id="5" name="Title 4">
            <a:extLst>
              <a:ext uri="{FF2B5EF4-FFF2-40B4-BE49-F238E27FC236}">
                <a16:creationId xmlns:a16="http://schemas.microsoft.com/office/drawing/2014/main" id="{391DC3BA-A66E-1ABF-9645-26B169373D88}"/>
              </a:ext>
            </a:extLst>
          </p:cNvPr>
          <p:cNvSpPr>
            <a:spLocks noGrp="1"/>
          </p:cNvSpPr>
          <p:nvPr>
            <p:ph type="title"/>
          </p:nvPr>
        </p:nvSpPr>
        <p:spPr/>
        <p:txBody>
          <a:bodyPr/>
          <a:lstStyle/>
          <a:p>
            <a:r>
              <a:rPr lang="en-US" dirty="0"/>
              <a:t>What is the R Validation Hub?</a:t>
            </a:r>
          </a:p>
        </p:txBody>
      </p:sp>
      <p:pic>
        <p:nvPicPr>
          <p:cNvPr id="6" name="Picture 5">
            <a:extLst>
              <a:ext uri="{FF2B5EF4-FFF2-40B4-BE49-F238E27FC236}">
                <a16:creationId xmlns:a16="http://schemas.microsoft.com/office/drawing/2014/main" id="{0F1E9249-C2A4-1855-ED1B-52D2453CE32F}"/>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sp>
        <p:nvSpPr>
          <p:cNvPr id="8" name="TextBox 7">
            <a:extLst>
              <a:ext uri="{FF2B5EF4-FFF2-40B4-BE49-F238E27FC236}">
                <a16:creationId xmlns:a16="http://schemas.microsoft.com/office/drawing/2014/main" id="{0E2C3F71-107F-4774-0F3D-361C8BF93490}"/>
              </a:ext>
            </a:extLst>
          </p:cNvPr>
          <p:cNvSpPr txBox="1"/>
          <p:nvPr/>
        </p:nvSpPr>
        <p:spPr>
          <a:xfrm>
            <a:off x="6825024" y="2465170"/>
            <a:ext cx="4704460" cy="328141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a:solidFill>
                  <a:schemeClr val="bg1">
                    <a:lumMod val="50000"/>
                  </a:schemeClr>
                </a:solidFill>
                <a:cs typeface="Arial" panose="020B0604020202020204" pitchFamily="34" charset="0"/>
              </a:rPr>
              <a:t>Nested under the </a:t>
            </a:r>
            <a:r>
              <a:rPr lang="en-US" sz="1400" b="1" dirty="0">
                <a:solidFill>
                  <a:srgbClr val="3973B3"/>
                </a:solidFill>
                <a:cs typeface="Arial" panose="020B0604020202020204" pitchFamily="34" charset="0"/>
              </a:rPr>
              <a:t>R Consortium</a:t>
            </a:r>
          </a:p>
          <a:p>
            <a:pPr marL="171450" indent="-171450">
              <a:lnSpc>
                <a:spcPct val="150000"/>
              </a:lnSpc>
              <a:buFont typeface="Arial" panose="020B0604020202020204" pitchFamily="34" charset="0"/>
              <a:buChar char="•"/>
            </a:pPr>
            <a:r>
              <a:rPr lang="en-US" sz="1400" dirty="0">
                <a:solidFill>
                  <a:schemeClr val="bg1">
                    <a:lumMod val="50000"/>
                  </a:schemeClr>
                </a:solidFill>
                <a:cs typeface="Arial" panose="020B0604020202020204" pitchFamily="34" charset="0"/>
              </a:rPr>
              <a:t>Cross industry collaboration of over </a:t>
            </a:r>
            <a:r>
              <a:rPr lang="en-US" sz="1400" b="1" dirty="0">
                <a:solidFill>
                  <a:srgbClr val="3973B3"/>
                </a:solidFill>
                <a:cs typeface="Arial" panose="020B0604020202020204" pitchFamily="34" charset="0"/>
              </a:rPr>
              <a:t>fifty biotech and pharmaceutical companies</a:t>
            </a:r>
          </a:p>
          <a:p>
            <a:pPr marL="171450" indent="-171450">
              <a:lnSpc>
                <a:spcPct val="150000"/>
              </a:lnSpc>
              <a:buFont typeface="Arial" panose="020B0604020202020204" pitchFamily="34" charset="0"/>
              <a:buChar char="•"/>
            </a:pPr>
            <a:r>
              <a:rPr lang="en-US" sz="1400" b="1" dirty="0">
                <a:solidFill>
                  <a:srgbClr val="3973B3"/>
                </a:solidFill>
                <a:cs typeface="Arial" panose="020B0604020202020204" pitchFamily="34" charset="0"/>
              </a:rPr>
              <a:t>Initial aim: </a:t>
            </a:r>
            <a:r>
              <a:rPr lang="en-US" sz="1400" dirty="0">
                <a:solidFill>
                  <a:schemeClr val="bg1">
                    <a:lumMod val="50000"/>
                  </a:schemeClr>
                </a:solidFill>
                <a:cs typeface="Arial" panose="020B0604020202020204" pitchFamily="34" charset="0"/>
              </a:rPr>
              <a:t>Consolidate definitions, regulations, and best practices for qualification and validation of the open-source language</a:t>
            </a:r>
          </a:p>
          <a:p>
            <a:pPr marL="171450" indent="-171450">
              <a:lnSpc>
                <a:spcPct val="150000"/>
              </a:lnSpc>
              <a:buFont typeface="Arial" panose="020B0604020202020204" pitchFamily="34" charset="0"/>
              <a:buChar char="•"/>
            </a:pPr>
            <a:r>
              <a:rPr lang="en-US" sz="1400" b="1" dirty="0">
                <a:solidFill>
                  <a:srgbClr val="3973B3"/>
                </a:solidFill>
                <a:cs typeface="Arial" panose="020B0604020202020204" pitchFamily="34" charset="0"/>
              </a:rPr>
              <a:t>Current State: </a:t>
            </a:r>
            <a:r>
              <a:rPr lang="en-US" sz="1400" dirty="0">
                <a:solidFill>
                  <a:schemeClr val="bg1">
                    <a:lumMod val="50000"/>
                  </a:schemeClr>
                </a:solidFill>
                <a:cs typeface="Arial" panose="020B0604020202020204" pitchFamily="34" charset="0"/>
              </a:rPr>
              <a:t>Grown to include a variety of workstreams that produce resources and tools for open-source use aligning with the expectations of regulatory agencies</a:t>
            </a:r>
          </a:p>
        </p:txBody>
      </p:sp>
      <p:pic>
        <p:nvPicPr>
          <p:cNvPr id="10" name="Picture 9">
            <a:extLst>
              <a:ext uri="{FF2B5EF4-FFF2-40B4-BE49-F238E27FC236}">
                <a16:creationId xmlns:a16="http://schemas.microsoft.com/office/drawing/2014/main" id="{8A3960FF-8BE3-BB4A-0391-C94A632288EF}"/>
              </a:ext>
            </a:extLst>
          </p:cNvPr>
          <p:cNvPicPr>
            <a:picLocks noChangeAspect="1"/>
          </p:cNvPicPr>
          <p:nvPr/>
        </p:nvPicPr>
        <p:blipFill>
          <a:blip r:embed="rId3"/>
          <a:stretch>
            <a:fillRect/>
          </a:stretch>
        </p:blipFill>
        <p:spPr>
          <a:xfrm>
            <a:off x="6858000" y="1322170"/>
            <a:ext cx="4358787" cy="586145"/>
          </a:xfrm>
          <a:prstGeom prst="rect">
            <a:avLst/>
          </a:prstGeom>
        </p:spPr>
      </p:pic>
      <p:sp>
        <p:nvSpPr>
          <p:cNvPr id="11" name="TextBox 10">
            <a:extLst>
              <a:ext uri="{FF2B5EF4-FFF2-40B4-BE49-F238E27FC236}">
                <a16:creationId xmlns:a16="http://schemas.microsoft.com/office/drawing/2014/main" id="{7644B02C-E16C-B7E1-C2BD-F0D5BA07EC60}"/>
              </a:ext>
            </a:extLst>
          </p:cNvPr>
          <p:cNvSpPr txBox="1"/>
          <p:nvPr/>
        </p:nvSpPr>
        <p:spPr>
          <a:xfrm>
            <a:off x="1135424" y="1231840"/>
            <a:ext cx="4704460" cy="5392862"/>
          </a:xfrm>
          <a:prstGeom prst="ellipse">
            <a:avLst/>
          </a:prstGeom>
          <a:noFill/>
          <a:ln w="19050"/>
        </p:spPr>
        <p:style>
          <a:lnRef idx="2">
            <a:schemeClr val="accent3"/>
          </a:lnRef>
          <a:fillRef idx="1">
            <a:schemeClr val="lt1"/>
          </a:fillRef>
          <a:effectRef idx="0">
            <a:schemeClr val="accent3"/>
          </a:effectRef>
          <a:fontRef idx="minor">
            <a:schemeClr val="dk1"/>
          </a:fontRef>
        </p:style>
        <p:txBody>
          <a:bodyPr wrap="square" rtlCol="0">
            <a:spAutoFit/>
          </a:bodyPr>
          <a:lstStyle/>
          <a:p>
            <a:pPr>
              <a:lnSpc>
                <a:spcPct val="150000"/>
              </a:lnSpc>
            </a:pPr>
            <a:r>
              <a:rPr lang="en-US" sz="1600" b="1" i="1" dirty="0">
                <a:solidFill>
                  <a:schemeClr val="tx2"/>
                </a:solidFill>
                <a:cs typeface="Arial" panose="020B0604020202020204" pitchFamily="34" charset="0"/>
              </a:rPr>
              <a:t>Some companies are:</a:t>
            </a:r>
          </a:p>
          <a:p>
            <a:pPr marL="285750" indent="-285750">
              <a:lnSpc>
                <a:spcPct val="150000"/>
              </a:lnSpc>
              <a:buFont typeface="Arial" panose="020B0604020202020204" pitchFamily="34" charset="0"/>
              <a:buChar char="•"/>
            </a:pPr>
            <a:r>
              <a:rPr lang="en-US" sz="1600" b="1" i="1" dirty="0" err="1">
                <a:solidFill>
                  <a:schemeClr val="tx2"/>
                </a:solidFill>
                <a:cs typeface="Arial" panose="020B0604020202020204" pitchFamily="34" charset="0"/>
              </a:rPr>
              <a:t>Abbvie</a:t>
            </a:r>
            <a:endParaRPr lang="en-US" sz="1600" b="1" i="1" dirty="0">
              <a:solidFill>
                <a:schemeClr val="tx2"/>
              </a:solidFill>
              <a:cs typeface="Arial" panose="020B0604020202020204" pitchFamily="34" charset="0"/>
            </a:endParaRP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Biogen</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Lilly</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Merck</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Parexel</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Posit</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Roche</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Sanofi</a:t>
            </a:r>
          </a:p>
          <a:p>
            <a:pPr>
              <a:lnSpc>
                <a:spcPct val="150000"/>
              </a:lnSpc>
            </a:pPr>
            <a:r>
              <a:rPr lang="en-US" sz="1600" b="1" i="1" dirty="0">
                <a:solidFill>
                  <a:schemeClr val="tx2"/>
                </a:solidFill>
                <a:cs typeface="Arial" panose="020B0604020202020204" pitchFamily="34" charset="0"/>
              </a:rPr>
              <a:t>And many more…</a:t>
            </a:r>
          </a:p>
        </p:txBody>
      </p:sp>
    </p:spTree>
    <p:extLst>
      <p:ext uri="{BB962C8B-B14F-4D97-AF65-F5344CB8AC3E}">
        <p14:creationId xmlns:p14="http://schemas.microsoft.com/office/powerpoint/2010/main" val="2550961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B4DD4C-3DB8-79E3-A691-69FA343EF35B}"/>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E4A43DD8-71A4-3B25-4B32-533363450D50}"/>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53C73841-3406-4D43-5FE4-380AE4FB820B}"/>
              </a:ext>
            </a:extLst>
          </p:cNvPr>
          <p:cNvSpPr>
            <a:spLocks noGrp="1"/>
          </p:cNvSpPr>
          <p:nvPr>
            <p:ph type="sldNum" sz="quarter" idx="12"/>
          </p:nvPr>
        </p:nvSpPr>
        <p:spPr/>
        <p:txBody>
          <a:bodyPr/>
          <a:lstStyle/>
          <a:p>
            <a:pPr>
              <a:defRPr/>
            </a:pPr>
            <a:fld id="{51A8E585-845B-497D-BF2F-352F8654D138}" type="slidenum">
              <a:rPr lang="en-US" altLang="en-US" smtClean="0"/>
              <a:pPr>
                <a:defRPr/>
              </a:pPr>
              <a:t>5</a:t>
            </a:fld>
            <a:endParaRPr lang="en-US" altLang="en-US" sz="1100"/>
          </a:p>
        </p:txBody>
      </p:sp>
      <p:sp>
        <p:nvSpPr>
          <p:cNvPr id="5" name="Title 4">
            <a:extLst>
              <a:ext uri="{FF2B5EF4-FFF2-40B4-BE49-F238E27FC236}">
                <a16:creationId xmlns:a16="http://schemas.microsoft.com/office/drawing/2014/main" id="{80B13504-35FC-C8C4-5CEE-5C16A5438350}"/>
              </a:ext>
            </a:extLst>
          </p:cNvPr>
          <p:cNvSpPr>
            <a:spLocks noGrp="1"/>
          </p:cNvSpPr>
          <p:nvPr>
            <p:ph type="title"/>
          </p:nvPr>
        </p:nvSpPr>
        <p:spPr/>
        <p:txBody>
          <a:bodyPr/>
          <a:lstStyle/>
          <a:p>
            <a:r>
              <a:rPr lang="en-US" dirty="0"/>
              <a:t>The White Paper</a:t>
            </a:r>
          </a:p>
        </p:txBody>
      </p:sp>
      <p:pic>
        <p:nvPicPr>
          <p:cNvPr id="6" name="Picture 5" descr="A close-up of a document&#10;&#10;Description automatically generated">
            <a:extLst>
              <a:ext uri="{FF2B5EF4-FFF2-40B4-BE49-F238E27FC236}">
                <a16:creationId xmlns:a16="http://schemas.microsoft.com/office/drawing/2014/main" id="{4B6E8FB1-39A4-3CB8-F083-A5214D5F0E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509" y="1882695"/>
            <a:ext cx="11328982" cy="30926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00732DEC-B61C-5498-6770-32D4600682FF}"/>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88392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70B7CC-674C-6E80-6672-F5DD9C82D739}"/>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A9BE7810-359C-6AFA-F851-D26C83F3003B}"/>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A74C62D7-0533-EA13-016C-73DC38B31871}"/>
              </a:ext>
            </a:extLst>
          </p:cNvPr>
          <p:cNvSpPr>
            <a:spLocks noGrp="1"/>
          </p:cNvSpPr>
          <p:nvPr>
            <p:ph type="sldNum" sz="quarter" idx="12"/>
          </p:nvPr>
        </p:nvSpPr>
        <p:spPr/>
        <p:txBody>
          <a:bodyPr/>
          <a:lstStyle/>
          <a:p>
            <a:pPr>
              <a:defRPr/>
            </a:pPr>
            <a:fld id="{51A8E585-845B-497D-BF2F-352F8654D138}" type="slidenum">
              <a:rPr lang="en-US" altLang="en-US" smtClean="0"/>
              <a:pPr>
                <a:defRPr/>
              </a:pPr>
              <a:t>6</a:t>
            </a:fld>
            <a:endParaRPr lang="en-US" altLang="en-US" sz="1100"/>
          </a:p>
        </p:txBody>
      </p:sp>
      <p:sp>
        <p:nvSpPr>
          <p:cNvPr id="5" name="Title 4">
            <a:extLst>
              <a:ext uri="{FF2B5EF4-FFF2-40B4-BE49-F238E27FC236}">
                <a16:creationId xmlns:a16="http://schemas.microsoft.com/office/drawing/2014/main" id="{D2A0D453-55E6-E3D0-C96E-A5EF7E3ABCDB}"/>
              </a:ext>
            </a:extLst>
          </p:cNvPr>
          <p:cNvSpPr>
            <a:spLocks noGrp="1"/>
          </p:cNvSpPr>
          <p:nvPr>
            <p:ph type="title"/>
          </p:nvPr>
        </p:nvSpPr>
        <p:spPr/>
        <p:txBody>
          <a:bodyPr>
            <a:noAutofit/>
          </a:bodyPr>
          <a:lstStyle/>
          <a:p>
            <a:r>
              <a:rPr lang="en-US" sz="2800" dirty="0">
                <a:solidFill>
                  <a:schemeClr val="tx1">
                    <a:lumMod val="75000"/>
                    <a:lumOff val="25000"/>
                  </a:schemeClr>
                </a:solidFill>
              </a:rPr>
              <a:t>A Risk-Based Approach for Assessing R Package Accuracy within a Validated Infrastructure </a:t>
            </a:r>
            <a:endParaRPr lang="en-US" sz="2800" dirty="0"/>
          </a:p>
        </p:txBody>
      </p:sp>
      <p:sp>
        <p:nvSpPr>
          <p:cNvPr id="7" name="Oval 6">
            <a:extLst>
              <a:ext uri="{FF2B5EF4-FFF2-40B4-BE49-F238E27FC236}">
                <a16:creationId xmlns:a16="http://schemas.microsoft.com/office/drawing/2014/main" id="{59F1E9C4-F6C8-F97E-DB33-7636EEC6A8B9}"/>
              </a:ext>
            </a:extLst>
          </p:cNvPr>
          <p:cNvSpPr/>
          <p:nvPr/>
        </p:nvSpPr>
        <p:spPr>
          <a:xfrm>
            <a:off x="8950080" y="2767661"/>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B9F9153-C7CE-8B1F-003C-331B99E3D7C8}"/>
              </a:ext>
            </a:extLst>
          </p:cNvPr>
          <p:cNvSpPr/>
          <p:nvPr/>
        </p:nvSpPr>
        <p:spPr>
          <a:xfrm>
            <a:off x="5265127" y="2767661"/>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4ABF3BF-4E0A-A94B-9C58-9213BF4A66B3}"/>
              </a:ext>
            </a:extLst>
          </p:cNvPr>
          <p:cNvSpPr/>
          <p:nvPr/>
        </p:nvSpPr>
        <p:spPr>
          <a:xfrm>
            <a:off x="1529594" y="2736432"/>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0" name="Graphic 9" descr="Checkmark with solid fill">
            <a:extLst>
              <a:ext uri="{FF2B5EF4-FFF2-40B4-BE49-F238E27FC236}">
                <a16:creationId xmlns:a16="http://schemas.microsoft.com/office/drawing/2014/main" id="{3A23F129-EEE1-F22C-5715-BEE8AEEBCE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79155" y="2988966"/>
            <a:ext cx="1156677" cy="1156677"/>
          </a:xfrm>
          <a:prstGeom prst="rect">
            <a:avLst/>
          </a:prstGeom>
        </p:spPr>
      </p:pic>
      <p:sp>
        <p:nvSpPr>
          <p:cNvPr id="11" name="TextBox 10">
            <a:extLst>
              <a:ext uri="{FF2B5EF4-FFF2-40B4-BE49-F238E27FC236}">
                <a16:creationId xmlns:a16="http://schemas.microsoft.com/office/drawing/2014/main" id="{FF53EE45-909F-9A23-C0FF-8371314D09A2}"/>
              </a:ext>
            </a:extLst>
          </p:cNvPr>
          <p:cNvSpPr txBox="1"/>
          <p:nvPr/>
        </p:nvSpPr>
        <p:spPr>
          <a:xfrm>
            <a:off x="678873" y="1591187"/>
            <a:ext cx="10834254" cy="868636"/>
          </a:xfrm>
          <a:prstGeom prst="rect">
            <a:avLst/>
          </a:prstGeom>
          <a:noFill/>
        </p:spPr>
        <p:txBody>
          <a:bodyPr wrap="square" rtlCol="0">
            <a:spAutoFit/>
          </a:bodyPr>
          <a:lstStyle/>
          <a:p>
            <a:pPr>
              <a:lnSpc>
                <a:spcPct val="150000"/>
              </a:lnSpc>
            </a:pPr>
            <a:r>
              <a:rPr lang="en-US" dirty="0">
                <a:solidFill>
                  <a:schemeClr val="tx2"/>
                </a:solidFill>
              </a:rPr>
              <a:t>Focuses on systems validation and adequate testing and documentation in keeping with the FDA’s “Statistical Software Clarifying Statement”</a:t>
            </a:r>
          </a:p>
        </p:txBody>
      </p:sp>
      <p:pic>
        <p:nvPicPr>
          <p:cNvPr id="12" name="Graphic 11" descr="Arrow circle with solid fill">
            <a:extLst>
              <a:ext uri="{FF2B5EF4-FFF2-40B4-BE49-F238E27FC236}">
                <a16:creationId xmlns:a16="http://schemas.microsoft.com/office/drawing/2014/main" id="{9A7E5345-97CE-4584-C578-73151E128A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73700" y="3021185"/>
            <a:ext cx="1156676" cy="1156676"/>
          </a:xfrm>
          <a:prstGeom prst="rect">
            <a:avLst/>
          </a:prstGeom>
        </p:spPr>
      </p:pic>
      <p:pic>
        <p:nvPicPr>
          <p:cNvPr id="13" name="Graphic 12" descr="Binoculars with solid fill">
            <a:extLst>
              <a:ext uri="{FF2B5EF4-FFF2-40B4-BE49-F238E27FC236}">
                <a16:creationId xmlns:a16="http://schemas.microsoft.com/office/drawing/2014/main" id="{DFE6B753-7F75-0174-D3D6-7E555809D4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02616" y="3021183"/>
            <a:ext cx="1156677" cy="1156677"/>
          </a:xfrm>
          <a:prstGeom prst="rect">
            <a:avLst/>
          </a:prstGeom>
        </p:spPr>
      </p:pic>
      <p:sp>
        <p:nvSpPr>
          <p:cNvPr id="14" name="TextBox 13">
            <a:extLst>
              <a:ext uri="{FF2B5EF4-FFF2-40B4-BE49-F238E27FC236}">
                <a16:creationId xmlns:a16="http://schemas.microsoft.com/office/drawing/2014/main" id="{2D9944C0-3AA8-0F8F-02F4-F8CFF9290F4F}"/>
              </a:ext>
            </a:extLst>
          </p:cNvPr>
          <p:cNvSpPr txBox="1"/>
          <p:nvPr/>
        </p:nvSpPr>
        <p:spPr>
          <a:xfrm>
            <a:off x="981274" y="4508688"/>
            <a:ext cx="2752437" cy="400110"/>
          </a:xfrm>
          <a:prstGeom prst="rect">
            <a:avLst/>
          </a:prstGeom>
          <a:noFill/>
        </p:spPr>
        <p:txBody>
          <a:bodyPr wrap="square" rtlCol="0">
            <a:spAutoFit/>
          </a:bodyPr>
          <a:lstStyle/>
          <a:p>
            <a:pPr algn="ctr"/>
            <a:r>
              <a:rPr lang="en-US" sz="2000" b="1" dirty="0">
                <a:solidFill>
                  <a:srgbClr val="3973B3"/>
                </a:solidFill>
              </a:rPr>
              <a:t>Accuracy</a:t>
            </a:r>
          </a:p>
        </p:txBody>
      </p:sp>
      <p:sp>
        <p:nvSpPr>
          <p:cNvPr id="15" name="TextBox 14">
            <a:extLst>
              <a:ext uri="{FF2B5EF4-FFF2-40B4-BE49-F238E27FC236}">
                <a16:creationId xmlns:a16="http://schemas.microsoft.com/office/drawing/2014/main" id="{ACBFAF02-38A2-DE64-51D8-BC8FDA256CA1}"/>
              </a:ext>
            </a:extLst>
          </p:cNvPr>
          <p:cNvSpPr txBox="1"/>
          <p:nvPr/>
        </p:nvSpPr>
        <p:spPr>
          <a:xfrm>
            <a:off x="4849000" y="4508688"/>
            <a:ext cx="2752437" cy="400110"/>
          </a:xfrm>
          <a:prstGeom prst="rect">
            <a:avLst/>
          </a:prstGeom>
          <a:noFill/>
        </p:spPr>
        <p:txBody>
          <a:bodyPr wrap="square" rtlCol="0">
            <a:spAutoFit/>
          </a:bodyPr>
          <a:lstStyle/>
          <a:p>
            <a:pPr algn="ctr"/>
            <a:r>
              <a:rPr lang="en-US" sz="2000" b="1" dirty="0">
                <a:solidFill>
                  <a:srgbClr val="3973B3"/>
                </a:solidFill>
              </a:rPr>
              <a:t>Reproducibility</a:t>
            </a:r>
          </a:p>
        </p:txBody>
      </p:sp>
      <p:sp>
        <p:nvSpPr>
          <p:cNvPr id="16" name="TextBox 15">
            <a:extLst>
              <a:ext uri="{FF2B5EF4-FFF2-40B4-BE49-F238E27FC236}">
                <a16:creationId xmlns:a16="http://schemas.microsoft.com/office/drawing/2014/main" id="{81DFD19F-61FE-D014-ACAB-BFB926A634E3}"/>
              </a:ext>
            </a:extLst>
          </p:cNvPr>
          <p:cNvSpPr txBox="1"/>
          <p:nvPr/>
        </p:nvSpPr>
        <p:spPr>
          <a:xfrm>
            <a:off x="8404735" y="4508688"/>
            <a:ext cx="2752437" cy="400110"/>
          </a:xfrm>
          <a:prstGeom prst="rect">
            <a:avLst/>
          </a:prstGeom>
          <a:noFill/>
        </p:spPr>
        <p:txBody>
          <a:bodyPr wrap="square" rtlCol="0">
            <a:spAutoFit/>
          </a:bodyPr>
          <a:lstStyle/>
          <a:p>
            <a:pPr algn="ctr"/>
            <a:r>
              <a:rPr lang="en-US" sz="2000" b="1" dirty="0">
                <a:solidFill>
                  <a:srgbClr val="3973B3"/>
                </a:solidFill>
              </a:rPr>
              <a:t>Traceability</a:t>
            </a:r>
          </a:p>
        </p:txBody>
      </p:sp>
      <p:sp>
        <p:nvSpPr>
          <p:cNvPr id="17" name="TextBox 16">
            <a:extLst>
              <a:ext uri="{FF2B5EF4-FFF2-40B4-BE49-F238E27FC236}">
                <a16:creationId xmlns:a16="http://schemas.microsoft.com/office/drawing/2014/main" id="{B35B22B0-71D3-5B75-9296-AC9FAAECE0C2}"/>
              </a:ext>
            </a:extLst>
          </p:cNvPr>
          <p:cNvSpPr txBox="1"/>
          <p:nvPr/>
        </p:nvSpPr>
        <p:spPr>
          <a:xfrm>
            <a:off x="3851030" y="5562600"/>
            <a:ext cx="4402016" cy="523220"/>
          </a:xfrm>
          <a:prstGeom prst="rect">
            <a:avLst/>
          </a:prstGeom>
          <a:noFill/>
        </p:spPr>
        <p:txBody>
          <a:bodyPr wrap="square" rtlCol="0">
            <a:spAutoFit/>
          </a:bodyPr>
          <a:lstStyle/>
          <a:p>
            <a:pPr algn="ctr"/>
            <a:r>
              <a:rPr lang="en-US" sz="2800" b="1" dirty="0">
                <a:solidFill>
                  <a:srgbClr val="3973B3"/>
                </a:solidFill>
              </a:rPr>
              <a:t>“For Intended Use”</a:t>
            </a:r>
          </a:p>
        </p:txBody>
      </p:sp>
      <p:sp>
        <p:nvSpPr>
          <p:cNvPr id="18" name="Rectangle 17">
            <a:extLst>
              <a:ext uri="{FF2B5EF4-FFF2-40B4-BE49-F238E27FC236}">
                <a16:creationId xmlns:a16="http://schemas.microsoft.com/office/drawing/2014/main" id="{074AE9A9-2D65-92A7-0C31-C569E413D409}"/>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The White Paper</a:t>
            </a:r>
          </a:p>
        </p:txBody>
      </p:sp>
      <p:pic>
        <p:nvPicPr>
          <p:cNvPr id="19" name="Picture 18">
            <a:extLst>
              <a:ext uri="{FF2B5EF4-FFF2-40B4-BE49-F238E27FC236}">
                <a16:creationId xmlns:a16="http://schemas.microsoft.com/office/drawing/2014/main" id="{921F129E-7DFF-6895-74BD-0DDFCB8DF028}"/>
              </a:ext>
            </a:extLst>
          </p:cNvPr>
          <p:cNvPicPr>
            <a:picLocks noChangeAspect="1"/>
          </p:cNvPicPr>
          <p:nvPr/>
        </p:nvPicPr>
        <p:blipFill>
          <a:blip r:embed="rId8">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178505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2C5AFC-5845-0BD9-0230-ABD74D6BDF08}"/>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7E2B8812-7643-6A3D-9BE5-9EDA5999C6F6}"/>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67B1FF9A-B9AC-0DC1-7C29-73168547C809}"/>
              </a:ext>
            </a:extLst>
          </p:cNvPr>
          <p:cNvSpPr>
            <a:spLocks noGrp="1"/>
          </p:cNvSpPr>
          <p:nvPr>
            <p:ph type="sldNum" sz="quarter" idx="12"/>
          </p:nvPr>
        </p:nvSpPr>
        <p:spPr/>
        <p:txBody>
          <a:bodyPr/>
          <a:lstStyle/>
          <a:p>
            <a:pPr>
              <a:defRPr/>
            </a:pPr>
            <a:fld id="{51A8E585-845B-497D-BF2F-352F8654D138}" type="slidenum">
              <a:rPr lang="en-US" altLang="en-US" smtClean="0"/>
              <a:pPr>
                <a:defRPr/>
              </a:pPr>
              <a:t>7</a:t>
            </a:fld>
            <a:endParaRPr lang="en-US" altLang="en-US" sz="1100"/>
          </a:p>
        </p:txBody>
      </p:sp>
      <p:sp>
        <p:nvSpPr>
          <p:cNvPr id="5" name="Title 4">
            <a:extLst>
              <a:ext uri="{FF2B5EF4-FFF2-40B4-BE49-F238E27FC236}">
                <a16:creationId xmlns:a16="http://schemas.microsoft.com/office/drawing/2014/main" id="{F03A1762-AB83-F8CA-05CD-186564D790A1}"/>
              </a:ext>
            </a:extLst>
          </p:cNvPr>
          <p:cNvSpPr>
            <a:spLocks noGrp="1"/>
          </p:cNvSpPr>
          <p:nvPr>
            <p:ph type="title"/>
          </p:nvPr>
        </p:nvSpPr>
        <p:spPr/>
        <p:txBody>
          <a:bodyPr>
            <a:noAutofit/>
          </a:bodyPr>
          <a:lstStyle/>
          <a:p>
            <a:r>
              <a:rPr lang="en-US" sz="2800" dirty="0">
                <a:solidFill>
                  <a:schemeClr val="tx1">
                    <a:lumMod val="75000"/>
                    <a:lumOff val="25000"/>
                  </a:schemeClr>
                </a:solidFill>
              </a:rPr>
              <a:t>Proposed Risk-Based Approach to Assess Accuracy</a:t>
            </a:r>
            <a:endParaRPr lang="en-US" sz="2800" dirty="0"/>
          </a:p>
        </p:txBody>
      </p:sp>
      <p:pic>
        <p:nvPicPr>
          <p:cNvPr id="7" name="Picture 6" descr="A screenshot of a computer&#10;&#10;Description automatically generated">
            <a:extLst>
              <a:ext uri="{FF2B5EF4-FFF2-40B4-BE49-F238E27FC236}">
                <a16:creationId xmlns:a16="http://schemas.microsoft.com/office/drawing/2014/main" id="{13275158-5325-1097-C09F-5F1CCE06B7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685" y="2067072"/>
            <a:ext cx="10328629" cy="3722397"/>
          </a:xfrm>
          <a:prstGeom prst="rect">
            <a:avLst/>
          </a:prstGeom>
        </p:spPr>
      </p:pic>
      <p:sp>
        <p:nvSpPr>
          <p:cNvPr id="8" name="Rectangle 7">
            <a:extLst>
              <a:ext uri="{FF2B5EF4-FFF2-40B4-BE49-F238E27FC236}">
                <a16:creationId xmlns:a16="http://schemas.microsoft.com/office/drawing/2014/main" id="{3F2A7CBC-F9EE-C01D-5C1C-8493B9A9BE67}"/>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The White Paper</a:t>
            </a:r>
          </a:p>
        </p:txBody>
      </p:sp>
      <p:pic>
        <p:nvPicPr>
          <p:cNvPr id="9" name="Picture 8">
            <a:extLst>
              <a:ext uri="{FF2B5EF4-FFF2-40B4-BE49-F238E27FC236}">
                <a16:creationId xmlns:a16="http://schemas.microsoft.com/office/drawing/2014/main" id="{A6078496-F46D-6E23-595C-35B866007F0E}"/>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757437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264302-F942-46A7-87D7-B80C8D0BF7EF}"/>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9EE1065F-76AE-8880-557D-60281361A638}"/>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8E752958-A2DB-924D-8E7E-6CAD2A6FB62E}"/>
              </a:ext>
            </a:extLst>
          </p:cNvPr>
          <p:cNvSpPr>
            <a:spLocks noGrp="1"/>
          </p:cNvSpPr>
          <p:nvPr>
            <p:ph type="sldNum" sz="quarter" idx="12"/>
          </p:nvPr>
        </p:nvSpPr>
        <p:spPr/>
        <p:txBody>
          <a:bodyPr/>
          <a:lstStyle/>
          <a:p>
            <a:pPr>
              <a:defRPr/>
            </a:pPr>
            <a:fld id="{51A8E585-845B-497D-BF2F-352F8654D138}" type="slidenum">
              <a:rPr lang="en-US" altLang="en-US" smtClean="0"/>
              <a:pPr>
                <a:defRPr/>
              </a:pPr>
              <a:t>8</a:t>
            </a:fld>
            <a:endParaRPr lang="en-US" altLang="en-US" sz="1100"/>
          </a:p>
        </p:txBody>
      </p:sp>
      <p:sp>
        <p:nvSpPr>
          <p:cNvPr id="5" name="Title 4">
            <a:extLst>
              <a:ext uri="{FF2B5EF4-FFF2-40B4-BE49-F238E27FC236}">
                <a16:creationId xmlns:a16="http://schemas.microsoft.com/office/drawing/2014/main" id="{1F923EB6-32BF-B790-2486-DDF501C0620F}"/>
              </a:ext>
            </a:extLst>
          </p:cNvPr>
          <p:cNvSpPr>
            <a:spLocks noGrp="1"/>
          </p:cNvSpPr>
          <p:nvPr>
            <p:ph type="title"/>
          </p:nvPr>
        </p:nvSpPr>
        <p:spPr/>
        <p:txBody>
          <a:bodyPr>
            <a:normAutofit/>
          </a:bodyPr>
          <a:lstStyle/>
          <a:p>
            <a:r>
              <a:rPr lang="en-US" sz="2800" dirty="0">
                <a:solidFill>
                  <a:schemeClr val="tx1">
                    <a:lumMod val="75000"/>
                    <a:lumOff val="25000"/>
                  </a:schemeClr>
                </a:solidFill>
              </a:rPr>
              <a:t>{</a:t>
            </a:r>
            <a:r>
              <a:rPr lang="en-US" sz="2800" dirty="0" err="1">
                <a:solidFill>
                  <a:schemeClr val="tx1">
                    <a:lumMod val="75000"/>
                    <a:lumOff val="25000"/>
                  </a:schemeClr>
                </a:solidFill>
              </a:rPr>
              <a:t>riskmetric</a:t>
            </a:r>
            <a:r>
              <a:rPr lang="en-US" sz="2800" dirty="0">
                <a:solidFill>
                  <a:schemeClr val="tx1">
                    <a:lumMod val="75000"/>
                    <a:lumOff val="25000"/>
                  </a:schemeClr>
                </a:solidFill>
              </a:rPr>
              <a:t>} &amp; {</a:t>
            </a:r>
            <a:r>
              <a:rPr lang="en-US" sz="2800" dirty="0" err="1">
                <a:solidFill>
                  <a:schemeClr val="tx1">
                    <a:lumMod val="75000"/>
                    <a:lumOff val="25000"/>
                  </a:schemeClr>
                </a:solidFill>
              </a:rPr>
              <a:t>riskassessment</a:t>
            </a:r>
            <a:r>
              <a:rPr lang="en-US" sz="2800" dirty="0">
                <a:solidFill>
                  <a:schemeClr val="tx1">
                    <a:lumMod val="75000"/>
                    <a:lumOff val="25000"/>
                  </a:schemeClr>
                </a:solidFill>
              </a:rPr>
              <a:t>}</a:t>
            </a:r>
          </a:p>
        </p:txBody>
      </p:sp>
      <p:pic>
        <p:nvPicPr>
          <p:cNvPr id="7" name="Picture 6" descr="A picture containing text, sign&#10;&#10;Description automatically generated">
            <a:extLst>
              <a:ext uri="{FF2B5EF4-FFF2-40B4-BE49-F238E27FC236}">
                <a16:creationId xmlns:a16="http://schemas.microsoft.com/office/drawing/2014/main" id="{8F93A4BA-AB39-419D-439E-2348E353C426}"/>
              </a:ext>
            </a:extLst>
          </p:cNvPr>
          <p:cNvPicPr>
            <a:picLocks noChangeAspect="1"/>
          </p:cNvPicPr>
          <p:nvPr/>
        </p:nvPicPr>
        <p:blipFill>
          <a:blip r:embed="rId2"/>
          <a:stretch>
            <a:fillRect/>
          </a:stretch>
        </p:blipFill>
        <p:spPr>
          <a:xfrm>
            <a:off x="1613775" y="1521514"/>
            <a:ext cx="4094426" cy="4738005"/>
          </a:xfrm>
          <a:prstGeom prst="rect">
            <a:avLst/>
          </a:prstGeom>
        </p:spPr>
      </p:pic>
      <p:pic>
        <p:nvPicPr>
          <p:cNvPr id="8" name="Picture 7">
            <a:extLst>
              <a:ext uri="{FF2B5EF4-FFF2-40B4-BE49-F238E27FC236}">
                <a16:creationId xmlns:a16="http://schemas.microsoft.com/office/drawing/2014/main" id="{0BB22873-D44D-3E6C-72F2-84532A3B57A9}"/>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pic>
        <p:nvPicPr>
          <p:cNvPr id="29" name="Picture 28" descr="Shape&#10;&#10;Description automatically generated with low confidence">
            <a:extLst>
              <a:ext uri="{FF2B5EF4-FFF2-40B4-BE49-F238E27FC236}">
                <a16:creationId xmlns:a16="http://schemas.microsoft.com/office/drawing/2014/main" id="{358522A3-12EE-1D62-4EB2-DFA95BEFE8E5}"/>
              </a:ext>
            </a:extLst>
          </p:cNvPr>
          <p:cNvPicPr>
            <a:picLocks noChangeAspect="1"/>
          </p:cNvPicPr>
          <p:nvPr/>
        </p:nvPicPr>
        <p:blipFill>
          <a:blip r:embed="rId4"/>
          <a:stretch>
            <a:fillRect/>
          </a:stretch>
        </p:blipFill>
        <p:spPr>
          <a:xfrm>
            <a:off x="5837560" y="1470002"/>
            <a:ext cx="4183454" cy="4841027"/>
          </a:xfrm>
          <a:prstGeom prst="rect">
            <a:avLst/>
          </a:prstGeom>
        </p:spPr>
      </p:pic>
      <p:sp>
        <p:nvSpPr>
          <p:cNvPr id="30" name="TextBox 29">
            <a:extLst>
              <a:ext uri="{FF2B5EF4-FFF2-40B4-BE49-F238E27FC236}">
                <a16:creationId xmlns:a16="http://schemas.microsoft.com/office/drawing/2014/main" id="{7A8E9771-B184-03E3-4738-B2EAB57A31C6}"/>
              </a:ext>
            </a:extLst>
          </p:cNvPr>
          <p:cNvSpPr txBox="1"/>
          <p:nvPr/>
        </p:nvSpPr>
        <p:spPr>
          <a:xfrm>
            <a:off x="9898198" y="5120164"/>
            <a:ext cx="1662539" cy="954107"/>
          </a:xfrm>
          <a:prstGeom prst="rect">
            <a:avLst/>
          </a:prstGeom>
          <a:noFill/>
        </p:spPr>
        <p:txBody>
          <a:bodyPr wrap="square" rtlCol="0">
            <a:spAutoFit/>
          </a:bodyPr>
          <a:lstStyle/>
          <a:p>
            <a:r>
              <a:rPr lang="en-US" sz="1400" dirty="0">
                <a:solidFill>
                  <a:schemeClr val="accent6"/>
                </a:solidFill>
                <a:latin typeface="Amasis MT Pro Black" panose="02040A04050005020304" pitchFamily="18" charset="0"/>
              </a:rPr>
              <a:t>Voted ‘Best App’ at Shiny Conference 2023</a:t>
            </a:r>
          </a:p>
        </p:txBody>
      </p:sp>
      <p:pic>
        <p:nvPicPr>
          <p:cNvPr id="31" name="Graphic 30" descr="A trophy cup">
            <a:extLst>
              <a:ext uri="{FF2B5EF4-FFF2-40B4-BE49-F238E27FC236}">
                <a16:creationId xmlns:a16="http://schemas.microsoft.com/office/drawing/2014/main" id="{447340F7-D466-E0FD-1E56-29DA46338C8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91866" y="3928030"/>
            <a:ext cx="1358735" cy="1358735"/>
          </a:xfrm>
          <a:prstGeom prst="rect">
            <a:avLst/>
          </a:prstGeom>
        </p:spPr>
      </p:pic>
    </p:spTree>
    <p:extLst>
      <p:ext uri="{BB962C8B-B14F-4D97-AF65-F5344CB8AC3E}">
        <p14:creationId xmlns:p14="http://schemas.microsoft.com/office/powerpoint/2010/main" val="2498647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D212E2-FE60-D292-143A-BB683A5F0A5A}"/>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B2DE1EB9-6D7E-A3E7-C0F2-DE9C9C84C1B1}"/>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3701EC9A-86A6-0556-BC88-517CB8A250D9}"/>
              </a:ext>
            </a:extLst>
          </p:cNvPr>
          <p:cNvSpPr>
            <a:spLocks noGrp="1"/>
          </p:cNvSpPr>
          <p:nvPr>
            <p:ph type="sldNum" sz="quarter" idx="12"/>
          </p:nvPr>
        </p:nvSpPr>
        <p:spPr/>
        <p:txBody>
          <a:bodyPr/>
          <a:lstStyle/>
          <a:p>
            <a:pPr>
              <a:defRPr/>
            </a:pPr>
            <a:fld id="{51A8E585-845B-497D-BF2F-352F8654D138}" type="slidenum">
              <a:rPr lang="en-US" altLang="en-US" smtClean="0"/>
              <a:pPr>
                <a:defRPr/>
              </a:pPr>
              <a:t>9</a:t>
            </a:fld>
            <a:endParaRPr lang="en-US" altLang="en-US" sz="1100"/>
          </a:p>
        </p:txBody>
      </p:sp>
      <p:sp>
        <p:nvSpPr>
          <p:cNvPr id="5" name="Title 4">
            <a:extLst>
              <a:ext uri="{FF2B5EF4-FFF2-40B4-BE49-F238E27FC236}">
                <a16:creationId xmlns:a16="http://schemas.microsoft.com/office/drawing/2014/main" id="{00DDD62F-A26B-03E9-4226-72BB745F49F6}"/>
              </a:ext>
            </a:extLst>
          </p:cNvPr>
          <p:cNvSpPr>
            <a:spLocks noGrp="1"/>
          </p:cNvSpPr>
          <p:nvPr>
            <p:ph type="title"/>
          </p:nvPr>
        </p:nvSpPr>
        <p:spPr/>
        <p:txBody>
          <a:bodyPr/>
          <a:lstStyle/>
          <a:p>
            <a:r>
              <a:rPr lang="en-US" dirty="0"/>
              <a:t>How Quality can be Quantified</a:t>
            </a:r>
          </a:p>
        </p:txBody>
      </p:sp>
      <p:sp>
        <p:nvSpPr>
          <p:cNvPr id="7" name="Rectangle: Rounded Corners 6">
            <a:extLst>
              <a:ext uri="{FF2B5EF4-FFF2-40B4-BE49-F238E27FC236}">
                <a16:creationId xmlns:a16="http://schemas.microsoft.com/office/drawing/2014/main" id="{6B5B3FF0-04C7-D76A-BC0B-9FAF57006F00}"/>
              </a:ext>
            </a:extLst>
          </p:cNvPr>
          <p:cNvSpPr/>
          <p:nvPr/>
        </p:nvSpPr>
        <p:spPr>
          <a:xfrm>
            <a:off x="7791805" y="271761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sp>
        <p:nvSpPr>
          <p:cNvPr id="8" name="Rectangle: Rounded Corners 7">
            <a:extLst>
              <a:ext uri="{FF2B5EF4-FFF2-40B4-BE49-F238E27FC236}">
                <a16:creationId xmlns:a16="http://schemas.microsoft.com/office/drawing/2014/main" id="{4ED30006-159B-5163-1D55-BA49CB5B2821}"/>
              </a:ext>
            </a:extLst>
          </p:cNvPr>
          <p:cNvSpPr/>
          <p:nvPr/>
        </p:nvSpPr>
        <p:spPr>
          <a:xfrm>
            <a:off x="7791805" y="140316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dirty="0">
              <a:highlight>
                <a:srgbClr val="FFFF00"/>
              </a:highlight>
            </a:endParaRPr>
          </a:p>
        </p:txBody>
      </p:sp>
      <p:sp>
        <p:nvSpPr>
          <p:cNvPr id="9" name="TextBox 8">
            <a:extLst>
              <a:ext uri="{FF2B5EF4-FFF2-40B4-BE49-F238E27FC236}">
                <a16:creationId xmlns:a16="http://schemas.microsoft.com/office/drawing/2014/main" id="{3D621ED2-B62E-4EB5-4C70-2F98000BF22E}"/>
              </a:ext>
            </a:extLst>
          </p:cNvPr>
          <p:cNvSpPr txBox="1"/>
          <p:nvPr/>
        </p:nvSpPr>
        <p:spPr>
          <a:xfrm>
            <a:off x="696452" y="2234514"/>
            <a:ext cx="6794590" cy="412420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t>A license</a:t>
            </a:r>
          </a:p>
          <a:p>
            <a:pPr marL="285750" indent="-285750">
              <a:lnSpc>
                <a:spcPct val="150000"/>
              </a:lnSpc>
              <a:buFont typeface="Arial" panose="020B0604020202020204" pitchFamily="34" charset="0"/>
              <a:buChar char="•"/>
            </a:pPr>
            <a:r>
              <a:rPr lang="en-US" sz="1600" dirty="0"/>
              <a:t>Source code available for browsing</a:t>
            </a:r>
          </a:p>
          <a:p>
            <a:pPr marL="285750" indent="-285750">
              <a:lnSpc>
                <a:spcPct val="150000"/>
              </a:lnSpc>
              <a:buFont typeface="Arial" panose="020B0604020202020204" pitchFamily="34" charset="0"/>
              <a:buChar char="•"/>
            </a:pPr>
            <a:r>
              <a:rPr lang="en-US" sz="1600" dirty="0"/>
              <a:t>An easy to contact maintainer</a:t>
            </a:r>
          </a:p>
          <a:p>
            <a:pPr marL="285750" indent="-285750">
              <a:lnSpc>
                <a:spcPct val="150000"/>
              </a:lnSpc>
              <a:buFont typeface="Arial" panose="020B0604020202020204" pitchFamily="34" charset="0"/>
              <a:buChar char="•"/>
            </a:pPr>
            <a:r>
              <a:rPr lang="en-US" sz="1600" dirty="0"/>
              <a:t>Up-to-date news regarding new features and bugs</a:t>
            </a:r>
          </a:p>
          <a:p>
            <a:pPr marL="285750" indent="-285750">
              <a:lnSpc>
                <a:spcPct val="150000"/>
              </a:lnSpc>
              <a:buFont typeface="Arial" panose="020B0604020202020204" pitchFamily="34" charset="0"/>
              <a:buChar char="•"/>
            </a:pPr>
            <a:r>
              <a:rPr lang="en-US" sz="1600" dirty="0"/>
              <a:t>A place to report bugs</a:t>
            </a:r>
          </a:p>
          <a:p>
            <a:pPr marL="285750" indent="-285750">
              <a:lnSpc>
                <a:spcPct val="150000"/>
              </a:lnSpc>
              <a:buFont typeface="Arial" panose="020B0604020202020204" pitchFamily="34" charset="0"/>
              <a:buChar char="•"/>
            </a:pPr>
            <a:r>
              <a:rPr lang="en-US" sz="1600" dirty="0"/>
              <a:t>Evidence that new bugs are being addressed</a:t>
            </a:r>
          </a:p>
          <a:p>
            <a:pPr marL="285750" indent="-285750">
              <a:lnSpc>
                <a:spcPct val="150000"/>
              </a:lnSpc>
              <a:buFont typeface="Arial" panose="020B0604020202020204" pitchFamily="34" charset="0"/>
              <a:buChar char="•"/>
            </a:pPr>
            <a:r>
              <a:rPr lang="en-US" sz="1600" dirty="0"/>
              <a:t>Package documentation &amp; user guides/ perhaps a website</a:t>
            </a:r>
          </a:p>
          <a:p>
            <a:pPr marL="285750" indent="-285750">
              <a:lnSpc>
                <a:spcPct val="150000"/>
              </a:lnSpc>
              <a:buFont typeface="Arial" panose="020B0604020202020204" pitchFamily="34" charset="0"/>
              <a:buChar char="•"/>
            </a:pPr>
            <a:r>
              <a:rPr lang="en-US" sz="1600" dirty="0"/>
              <a:t>Complete Function documentation</a:t>
            </a:r>
          </a:p>
          <a:p>
            <a:pPr marL="285750" indent="-285750">
              <a:lnSpc>
                <a:spcPct val="150000"/>
              </a:lnSpc>
              <a:buFont typeface="Arial" panose="020B0604020202020204" pitchFamily="34" charset="0"/>
              <a:buChar char="•"/>
            </a:pPr>
            <a:r>
              <a:rPr lang="en-US" sz="1600" dirty="0"/>
              <a:t>Adequate test coverage</a:t>
            </a:r>
          </a:p>
          <a:p>
            <a:pPr marL="285750" indent="-285750">
              <a:lnSpc>
                <a:spcPct val="150000"/>
              </a:lnSpc>
              <a:buFont typeface="Arial" panose="020B0604020202020204" pitchFamily="34" charset="0"/>
              <a:buChar char="•"/>
            </a:pPr>
            <a:r>
              <a:rPr lang="en-US" sz="1600" dirty="0"/>
              <a:t>Community usage</a:t>
            </a:r>
          </a:p>
          <a:p>
            <a:pPr marL="285750" indent="-285750">
              <a:lnSpc>
                <a:spcPct val="150000"/>
              </a:lnSpc>
              <a:buFont typeface="Arial" panose="020B0604020202020204" pitchFamily="34" charset="0"/>
              <a:buChar char="•"/>
            </a:pPr>
            <a:r>
              <a:rPr lang="en-US" sz="1600" dirty="0">
                <a:solidFill>
                  <a:schemeClr val="accent1">
                    <a:lumMod val="50000"/>
                  </a:schemeClr>
                </a:solidFill>
              </a:rPr>
              <a:t>Many more!</a:t>
            </a:r>
          </a:p>
        </p:txBody>
      </p:sp>
      <p:sp>
        <p:nvSpPr>
          <p:cNvPr id="10" name="TextBox 9">
            <a:extLst>
              <a:ext uri="{FF2B5EF4-FFF2-40B4-BE49-F238E27FC236}">
                <a16:creationId xmlns:a16="http://schemas.microsoft.com/office/drawing/2014/main" id="{3F4E01F6-F1C3-181D-ACA6-86113C04100E}"/>
              </a:ext>
            </a:extLst>
          </p:cNvPr>
          <p:cNvSpPr txBox="1"/>
          <p:nvPr/>
        </p:nvSpPr>
        <p:spPr>
          <a:xfrm>
            <a:off x="8001000" y="1574720"/>
            <a:ext cx="2549104" cy="707886"/>
          </a:xfrm>
          <a:prstGeom prst="rect">
            <a:avLst/>
          </a:prstGeom>
          <a:noFill/>
        </p:spPr>
        <p:txBody>
          <a:bodyPr wrap="square" rtlCol="0">
            <a:spAutoFit/>
          </a:bodyPr>
          <a:lstStyle/>
          <a:p>
            <a:pPr algn="ctr"/>
            <a:r>
              <a:rPr lang="en-US" sz="2000" b="1" dirty="0">
                <a:solidFill>
                  <a:schemeClr val="bg1"/>
                </a:solidFill>
                <a:latin typeface="+mj-lt"/>
              </a:rPr>
              <a:t>Unit Testing Metrics</a:t>
            </a:r>
          </a:p>
        </p:txBody>
      </p:sp>
      <p:sp>
        <p:nvSpPr>
          <p:cNvPr id="11" name="TextBox 10">
            <a:extLst>
              <a:ext uri="{FF2B5EF4-FFF2-40B4-BE49-F238E27FC236}">
                <a16:creationId xmlns:a16="http://schemas.microsoft.com/office/drawing/2014/main" id="{9C4E0C36-463F-A1F0-9B52-710D43AAE3E8}"/>
              </a:ext>
            </a:extLst>
          </p:cNvPr>
          <p:cNvSpPr txBox="1"/>
          <p:nvPr/>
        </p:nvSpPr>
        <p:spPr>
          <a:xfrm>
            <a:off x="7821200" y="2846683"/>
            <a:ext cx="2939871" cy="707886"/>
          </a:xfrm>
          <a:prstGeom prst="rect">
            <a:avLst/>
          </a:prstGeom>
          <a:noFill/>
        </p:spPr>
        <p:txBody>
          <a:bodyPr wrap="square" rtlCol="0">
            <a:spAutoFit/>
          </a:bodyPr>
          <a:lstStyle/>
          <a:p>
            <a:pPr algn="ctr"/>
            <a:r>
              <a:rPr lang="en-US" sz="2000" b="1" dirty="0">
                <a:solidFill>
                  <a:schemeClr val="bg1"/>
                </a:solidFill>
                <a:latin typeface="+mj-lt"/>
              </a:rPr>
              <a:t>Documentation Metrics</a:t>
            </a:r>
          </a:p>
        </p:txBody>
      </p:sp>
      <p:sp>
        <p:nvSpPr>
          <p:cNvPr id="12" name="Rectangle: Rounded Corners 11">
            <a:extLst>
              <a:ext uri="{FF2B5EF4-FFF2-40B4-BE49-F238E27FC236}">
                <a16:creationId xmlns:a16="http://schemas.microsoft.com/office/drawing/2014/main" id="{8E7A3842-7EEE-81B5-0F60-3A2BBB768F21}"/>
              </a:ext>
            </a:extLst>
          </p:cNvPr>
          <p:cNvSpPr/>
          <p:nvPr/>
        </p:nvSpPr>
        <p:spPr>
          <a:xfrm>
            <a:off x="7791805" y="403206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sp>
        <p:nvSpPr>
          <p:cNvPr id="13" name="TextBox 12">
            <a:extLst>
              <a:ext uri="{FF2B5EF4-FFF2-40B4-BE49-F238E27FC236}">
                <a16:creationId xmlns:a16="http://schemas.microsoft.com/office/drawing/2014/main" id="{6369BAB1-D831-439A-7895-8B50549F594E}"/>
              </a:ext>
            </a:extLst>
          </p:cNvPr>
          <p:cNvSpPr txBox="1"/>
          <p:nvPr/>
        </p:nvSpPr>
        <p:spPr>
          <a:xfrm>
            <a:off x="7821200" y="4159211"/>
            <a:ext cx="2939871" cy="707886"/>
          </a:xfrm>
          <a:prstGeom prst="rect">
            <a:avLst/>
          </a:prstGeom>
          <a:noFill/>
        </p:spPr>
        <p:txBody>
          <a:bodyPr wrap="square" rtlCol="0">
            <a:spAutoFit/>
          </a:bodyPr>
          <a:lstStyle/>
          <a:p>
            <a:pPr algn="ctr"/>
            <a:r>
              <a:rPr lang="en-US" sz="2000" b="1" dirty="0">
                <a:solidFill>
                  <a:schemeClr val="bg1"/>
                </a:solidFill>
                <a:latin typeface="+mj-lt"/>
              </a:rPr>
              <a:t>Community Engagement</a:t>
            </a:r>
          </a:p>
        </p:txBody>
      </p:sp>
      <p:sp>
        <p:nvSpPr>
          <p:cNvPr id="14" name="Rectangle: Rounded Corners 13">
            <a:extLst>
              <a:ext uri="{FF2B5EF4-FFF2-40B4-BE49-F238E27FC236}">
                <a16:creationId xmlns:a16="http://schemas.microsoft.com/office/drawing/2014/main" id="{483C4A5F-F7EB-39CA-327A-BB7F10768341}"/>
              </a:ext>
            </a:extLst>
          </p:cNvPr>
          <p:cNvSpPr/>
          <p:nvPr/>
        </p:nvSpPr>
        <p:spPr>
          <a:xfrm>
            <a:off x="7791805" y="534651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sp>
        <p:nvSpPr>
          <p:cNvPr id="15" name="TextBox 14">
            <a:extLst>
              <a:ext uri="{FF2B5EF4-FFF2-40B4-BE49-F238E27FC236}">
                <a16:creationId xmlns:a16="http://schemas.microsoft.com/office/drawing/2014/main" id="{91E8BDD1-07FC-C40E-78C3-E0A73DAA8D23}"/>
              </a:ext>
            </a:extLst>
          </p:cNvPr>
          <p:cNvSpPr txBox="1"/>
          <p:nvPr/>
        </p:nvSpPr>
        <p:spPr>
          <a:xfrm>
            <a:off x="7821200" y="5468817"/>
            <a:ext cx="2939871" cy="707886"/>
          </a:xfrm>
          <a:prstGeom prst="rect">
            <a:avLst/>
          </a:prstGeom>
          <a:noFill/>
        </p:spPr>
        <p:txBody>
          <a:bodyPr wrap="square" rtlCol="0">
            <a:spAutoFit/>
          </a:bodyPr>
          <a:lstStyle/>
          <a:p>
            <a:pPr algn="ctr"/>
            <a:r>
              <a:rPr lang="en-US" sz="2000" b="1" dirty="0">
                <a:solidFill>
                  <a:schemeClr val="bg1"/>
                </a:solidFill>
                <a:latin typeface="+mj-lt"/>
              </a:rPr>
              <a:t>Maintenance &amp; Reusability</a:t>
            </a:r>
          </a:p>
        </p:txBody>
      </p:sp>
      <p:pic>
        <p:nvPicPr>
          <p:cNvPr id="16" name="Picture 15">
            <a:extLst>
              <a:ext uri="{FF2B5EF4-FFF2-40B4-BE49-F238E27FC236}">
                <a16:creationId xmlns:a16="http://schemas.microsoft.com/office/drawing/2014/main" id="{57388A76-BCB5-A541-85D1-91D376659A78}"/>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sp>
        <p:nvSpPr>
          <p:cNvPr id="17" name="Rectangle 16">
            <a:extLst>
              <a:ext uri="{FF2B5EF4-FFF2-40B4-BE49-F238E27FC236}">
                <a16:creationId xmlns:a16="http://schemas.microsoft.com/office/drawing/2014/main" id="{CA9C4177-4489-8280-9259-B626A17BDFF5}"/>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riskmetric</a:t>
            </a:r>
            <a:r>
              <a:rPr lang="en-US" sz="1400" dirty="0"/>
              <a:t>}</a:t>
            </a:r>
          </a:p>
        </p:txBody>
      </p:sp>
    </p:spTree>
    <p:extLst>
      <p:ext uri="{BB962C8B-B14F-4D97-AF65-F5344CB8AC3E}">
        <p14:creationId xmlns:p14="http://schemas.microsoft.com/office/powerpoint/2010/main" val="2827426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9EA968-F621-0835-3695-B985050AA71A}"/>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B6EA332B-DDC1-F6C2-A0D2-F46A7580E9D6}"/>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E926838-F45C-68E5-876E-0C76843B1334}"/>
              </a:ext>
            </a:extLst>
          </p:cNvPr>
          <p:cNvSpPr>
            <a:spLocks noGrp="1"/>
          </p:cNvSpPr>
          <p:nvPr>
            <p:ph type="sldNum" sz="quarter" idx="12"/>
          </p:nvPr>
        </p:nvSpPr>
        <p:spPr/>
        <p:txBody>
          <a:bodyPr/>
          <a:lstStyle/>
          <a:p>
            <a:pPr>
              <a:defRPr/>
            </a:pPr>
            <a:fld id="{51A8E585-845B-497D-BF2F-352F8654D138}" type="slidenum">
              <a:rPr lang="en-US" altLang="en-US" smtClean="0"/>
              <a:pPr>
                <a:defRPr/>
              </a:pPr>
              <a:t>10</a:t>
            </a:fld>
            <a:endParaRPr lang="en-US" altLang="en-US" sz="1100"/>
          </a:p>
        </p:txBody>
      </p:sp>
      <p:sp>
        <p:nvSpPr>
          <p:cNvPr id="5" name="Title 4">
            <a:extLst>
              <a:ext uri="{FF2B5EF4-FFF2-40B4-BE49-F238E27FC236}">
                <a16:creationId xmlns:a16="http://schemas.microsoft.com/office/drawing/2014/main" id="{5C9D1598-CEE5-24AA-5DBE-359B430E7094}"/>
              </a:ext>
            </a:extLst>
          </p:cNvPr>
          <p:cNvSpPr>
            <a:spLocks noGrp="1"/>
          </p:cNvSpPr>
          <p:nvPr>
            <p:ph type="title"/>
          </p:nvPr>
        </p:nvSpPr>
        <p:spPr/>
        <p:txBody>
          <a:bodyPr/>
          <a:lstStyle/>
          <a:p>
            <a:r>
              <a:rPr lang="en-US" dirty="0"/>
              <a:t>How It Works</a:t>
            </a:r>
          </a:p>
        </p:txBody>
      </p:sp>
      <p:sp>
        <p:nvSpPr>
          <p:cNvPr id="6" name="Rectangle 5">
            <a:extLst>
              <a:ext uri="{FF2B5EF4-FFF2-40B4-BE49-F238E27FC236}">
                <a16:creationId xmlns:a16="http://schemas.microsoft.com/office/drawing/2014/main" id="{7CE08067-5760-0E3B-426E-2CAAF515FCC6}"/>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riskassessment</a:t>
            </a:r>
            <a:r>
              <a:rPr lang="en-US" sz="1400" dirty="0"/>
              <a:t>}</a:t>
            </a:r>
          </a:p>
        </p:txBody>
      </p:sp>
      <p:pic>
        <p:nvPicPr>
          <p:cNvPr id="7" name="riskassessment_markdown">
            <a:hlinkClick r:id="" action="ppaction://media"/>
            <a:extLst>
              <a:ext uri="{FF2B5EF4-FFF2-40B4-BE49-F238E27FC236}">
                <a16:creationId xmlns:a16="http://schemas.microsoft.com/office/drawing/2014/main" id="{837E8D67-30E9-F74A-0B12-29AB840AF0E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59959" y="1447800"/>
            <a:ext cx="10072081" cy="4909613"/>
          </a:xfrm>
          <a:prstGeom prst="rect">
            <a:avLst/>
          </a:prstGeom>
          <a:ln>
            <a:solidFill>
              <a:schemeClr val="tx2">
                <a:lumMod val="60000"/>
                <a:lumOff val="40000"/>
              </a:schemeClr>
            </a:solidFill>
          </a:ln>
        </p:spPr>
      </p:pic>
      <p:pic>
        <p:nvPicPr>
          <p:cNvPr id="8" name="Picture 7">
            <a:extLst>
              <a:ext uri="{FF2B5EF4-FFF2-40B4-BE49-F238E27FC236}">
                <a16:creationId xmlns:a16="http://schemas.microsoft.com/office/drawing/2014/main" id="{2207C912-3B80-32BB-EE27-8FB8358ECFE3}"/>
              </a:ext>
            </a:extLst>
          </p:cNvPr>
          <p:cNvPicPr>
            <a:picLocks noChangeAspect="1"/>
          </p:cNvPicPr>
          <p:nvPr/>
        </p:nvPicPr>
        <p:blipFill>
          <a:blip r:embed="rId5">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49330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99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fill="hold" display="0">
                  <p:stCondLst>
                    <p:cond delay="indefinite"/>
                  </p:stCondLst>
                </p:cTn>
                <p:tgtEl>
                  <p:spTgt spid="7"/>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823F52-3C5F-2A2F-8E42-A5C55CDE8774}"/>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596D722B-B743-9BB2-CF28-363005853DF1}"/>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40CDF22-8A22-64F9-AAF3-0D0836DC4A40}"/>
              </a:ext>
            </a:extLst>
          </p:cNvPr>
          <p:cNvSpPr>
            <a:spLocks noGrp="1"/>
          </p:cNvSpPr>
          <p:nvPr>
            <p:ph type="sldNum" sz="quarter" idx="12"/>
          </p:nvPr>
        </p:nvSpPr>
        <p:spPr/>
        <p:txBody>
          <a:bodyPr/>
          <a:lstStyle/>
          <a:p>
            <a:pPr>
              <a:defRPr/>
            </a:pPr>
            <a:fld id="{51A8E585-845B-497D-BF2F-352F8654D138}" type="slidenum">
              <a:rPr lang="en-US" altLang="en-US" smtClean="0"/>
              <a:pPr>
                <a:defRPr/>
              </a:pPr>
              <a:t>11</a:t>
            </a:fld>
            <a:endParaRPr lang="en-US" altLang="en-US" sz="1100"/>
          </a:p>
        </p:txBody>
      </p:sp>
      <p:sp>
        <p:nvSpPr>
          <p:cNvPr id="5" name="Title 4">
            <a:extLst>
              <a:ext uri="{FF2B5EF4-FFF2-40B4-BE49-F238E27FC236}">
                <a16:creationId xmlns:a16="http://schemas.microsoft.com/office/drawing/2014/main" id="{507C6267-E090-86DB-1289-58596D591AD5}"/>
              </a:ext>
            </a:extLst>
          </p:cNvPr>
          <p:cNvSpPr>
            <a:spLocks noGrp="1"/>
          </p:cNvSpPr>
          <p:nvPr>
            <p:ph type="title"/>
          </p:nvPr>
        </p:nvSpPr>
        <p:spPr/>
        <p:txBody>
          <a:bodyPr>
            <a:noAutofit/>
          </a:bodyPr>
          <a:lstStyle/>
          <a:p>
            <a:r>
              <a:rPr lang="en-US" sz="3200" dirty="0">
                <a:solidFill>
                  <a:schemeClr val="tx1">
                    <a:lumMod val="75000"/>
                    <a:lumOff val="25000"/>
                  </a:schemeClr>
                </a:solidFill>
              </a:rPr>
              <a:t>Decision Automation – Integration with {</a:t>
            </a:r>
            <a:r>
              <a:rPr lang="en-US" sz="3200" dirty="0" err="1">
                <a:solidFill>
                  <a:schemeClr val="tx1">
                    <a:lumMod val="75000"/>
                    <a:lumOff val="25000"/>
                  </a:schemeClr>
                </a:solidFill>
              </a:rPr>
              <a:t>riskassessment</a:t>
            </a:r>
            <a:r>
              <a:rPr lang="en-US" sz="3200" dirty="0">
                <a:solidFill>
                  <a:schemeClr val="tx1">
                    <a:lumMod val="75000"/>
                    <a:lumOff val="25000"/>
                  </a:schemeClr>
                </a:solidFill>
              </a:rPr>
              <a:t>}</a:t>
            </a:r>
            <a:endParaRPr lang="en-US" sz="3200" dirty="0"/>
          </a:p>
        </p:txBody>
      </p:sp>
      <p:sp>
        <p:nvSpPr>
          <p:cNvPr id="6" name="Rectangle 5">
            <a:extLst>
              <a:ext uri="{FF2B5EF4-FFF2-40B4-BE49-F238E27FC236}">
                <a16:creationId xmlns:a16="http://schemas.microsoft.com/office/drawing/2014/main" id="{8570638F-961D-064B-470F-0995215CD8C7}"/>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riskassessment</a:t>
            </a:r>
            <a:r>
              <a:rPr lang="en-US" sz="1400" dirty="0"/>
              <a:t>}</a:t>
            </a:r>
          </a:p>
        </p:txBody>
      </p:sp>
      <p:pic>
        <p:nvPicPr>
          <p:cNvPr id="7" name="Picture 2">
            <a:extLst>
              <a:ext uri="{FF2B5EF4-FFF2-40B4-BE49-F238E27FC236}">
                <a16:creationId xmlns:a16="http://schemas.microsoft.com/office/drawing/2014/main" id="{F86063AD-0F70-4D26-CC29-2C6E66B08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313" y="1654942"/>
            <a:ext cx="6305373" cy="4898258"/>
          </a:xfrm>
          <a:prstGeom prst="rect">
            <a:avLst/>
          </a:prstGeom>
          <a:noFill/>
          <a:ln>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2B9AACF-341B-9E87-B6F7-C17C967DE748}"/>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0627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90C371-F176-528D-6584-1142CB68F952}"/>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54ADA229-D804-7E36-89D1-EC833F96D67F}"/>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1C4C075C-77BD-3050-348F-A6F27FDB710A}"/>
              </a:ext>
            </a:extLst>
          </p:cNvPr>
          <p:cNvSpPr>
            <a:spLocks noGrp="1"/>
          </p:cNvSpPr>
          <p:nvPr>
            <p:ph type="sldNum" sz="quarter" idx="12"/>
          </p:nvPr>
        </p:nvSpPr>
        <p:spPr/>
        <p:txBody>
          <a:bodyPr/>
          <a:lstStyle/>
          <a:p>
            <a:pPr>
              <a:defRPr/>
            </a:pPr>
            <a:fld id="{51A8E585-845B-497D-BF2F-352F8654D138}" type="slidenum">
              <a:rPr lang="en-US" altLang="en-US" smtClean="0"/>
              <a:pPr>
                <a:defRPr/>
              </a:pPr>
              <a:t>12</a:t>
            </a:fld>
            <a:endParaRPr lang="en-US" altLang="en-US" sz="1100"/>
          </a:p>
        </p:txBody>
      </p:sp>
      <p:sp>
        <p:nvSpPr>
          <p:cNvPr id="5" name="Title 4">
            <a:extLst>
              <a:ext uri="{FF2B5EF4-FFF2-40B4-BE49-F238E27FC236}">
                <a16:creationId xmlns:a16="http://schemas.microsoft.com/office/drawing/2014/main" id="{72997012-238A-6BD1-9625-3E35910779F4}"/>
              </a:ext>
            </a:extLst>
          </p:cNvPr>
          <p:cNvSpPr>
            <a:spLocks noGrp="1"/>
          </p:cNvSpPr>
          <p:nvPr>
            <p:ph type="title"/>
          </p:nvPr>
        </p:nvSpPr>
        <p:spPr/>
        <p:txBody>
          <a:bodyPr/>
          <a:lstStyle/>
          <a:p>
            <a:r>
              <a:rPr lang="en-US" dirty="0"/>
              <a:t>Exploring Dependencies</a:t>
            </a:r>
          </a:p>
        </p:txBody>
      </p:sp>
      <p:sp>
        <p:nvSpPr>
          <p:cNvPr id="6" name="Rectangle 5">
            <a:extLst>
              <a:ext uri="{FF2B5EF4-FFF2-40B4-BE49-F238E27FC236}">
                <a16:creationId xmlns:a16="http://schemas.microsoft.com/office/drawing/2014/main" id="{1921463A-728F-F460-7845-861845FC645A}"/>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riskassessment</a:t>
            </a:r>
            <a:r>
              <a:rPr lang="en-US" sz="1400" dirty="0"/>
              <a:t>}</a:t>
            </a:r>
          </a:p>
        </p:txBody>
      </p:sp>
      <p:pic>
        <p:nvPicPr>
          <p:cNvPr id="7" name="Picture 2">
            <a:extLst>
              <a:ext uri="{FF2B5EF4-FFF2-40B4-BE49-F238E27FC236}">
                <a16:creationId xmlns:a16="http://schemas.microsoft.com/office/drawing/2014/main" id="{60F78A17-0208-C2FE-27CB-3CBB9B8B1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069" y="1428161"/>
            <a:ext cx="8823862" cy="4891039"/>
          </a:xfrm>
          <a:prstGeom prst="rect">
            <a:avLst/>
          </a:prstGeom>
          <a:noFill/>
          <a:ln>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E750E9E-6E02-AFFE-59F0-75D70F3852E5}"/>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868417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BF5CE-A236-8113-8FA8-3F68BE79428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EF4511A-56DE-74A3-77E6-E0F30465E378}"/>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71E9AF6D-8E48-95B6-AE60-0193837C4D92}"/>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3704DA4-A46C-8E3C-D1A0-E66BEF4646D6}"/>
              </a:ext>
            </a:extLst>
          </p:cNvPr>
          <p:cNvSpPr>
            <a:spLocks noGrp="1"/>
          </p:cNvSpPr>
          <p:nvPr>
            <p:ph type="sldNum" sz="quarter" idx="12"/>
          </p:nvPr>
        </p:nvSpPr>
        <p:spPr/>
        <p:txBody>
          <a:bodyPr/>
          <a:lstStyle/>
          <a:p>
            <a:pPr>
              <a:defRPr/>
            </a:pPr>
            <a:fld id="{51A8E585-845B-497D-BF2F-352F8654D138}" type="slidenum">
              <a:rPr lang="en-US" altLang="en-US" smtClean="0"/>
              <a:pPr>
                <a:defRPr/>
              </a:pPr>
              <a:t>13</a:t>
            </a:fld>
            <a:endParaRPr lang="en-US" altLang="en-US" sz="1100"/>
          </a:p>
        </p:txBody>
      </p:sp>
      <p:sp>
        <p:nvSpPr>
          <p:cNvPr id="5" name="Title 4">
            <a:extLst>
              <a:ext uri="{FF2B5EF4-FFF2-40B4-BE49-F238E27FC236}">
                <a16:creationId xmlns:a16="http://schemas.microsoft.com/office/drawing/2014/main" id="{F4B1538E-F893-AAC2-4F62-ECBA9A8FB3DC}"/>
              </a:ext>
            </a:extLst>
          </p:cNvPr>
          <p:cNvSpPr>
            <a:spLocks noGrp="1"/>
          </p:cNvSpPr>
          <p:nvPr>
            <p:ph type="title"/>
          </p:nvPr>
        </p:nvSpPr>
        <p:spPr/>
        <p:txBody>
          <a:bodyPr>
            <a:normAutofit/>
          </a:bodyPr>
          <a:lstStyle/>
          <a:p>
            <a:r>
              <a:rPr lang="en-US" sz="2800" dirty="0">
                <a:solidFill>
                  <a:schemeClr val="tx1">
                    <a:lumMod val="75000"/>
                    <a:lumOff val="25000"/>
                  </a:schemeClr>
                </a:solidFill>
              </a:rPr>
              <a:t>{val.*} Packages</a:t>
            </a:r>
          </a:p>
        </p:txBody>
      </p:sp>
      <p:pic>
        <p:nvPicPr>
          <p:cNvPr id="8" name="Picture 7">
            <a:extLst>
              <a:ext uri="{FF2B5EF4-FFF2-40B4-BE49-F238E27FC236}">
                <a16:creationId xmlns:a16="http://schemas.microsoft.com/office/drawing/2014/main" id="{6B4853BD-897B-E467-28A9-E1248AB8805E}"/>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pic>
        <p:nvPicPr>
          <p:cNvPr id="9" name="Picture 8" descr="A close-up of a blue and black text&#10;&#10;AI-generated content may be incorrect.">
            <a:extLst>
              <a:ext uri="{FF2B5EF4-FFF2-40B4-BE49-F238E27FC236}">
                <a16:creationId xmlns:a16="http://schemas.microsoft.com/office/drawing/2014/main" id="{D4C23090-8C65-4A3C-C8BF-77D5D2B99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2248210"/>
            <a:ext cx="2438400" cy="1295193"/>
          </a:xfrm>
          <a:prstGeom prst="rect">
            <a:avLst/>
          </a:prstGeom>
        </p:spPr>
      </p:pic>
      <p:pic>
        <p:nvPicPr>
          <p:cNvPr id="11" name="Picture 10" descr="A close-up of a blue and black sign&#10;&#10;AI-generated content may be incorrect.">
            <a:extLst>
              <a:ext uri="{FF2B5EF4-FFF2-40B4-BE49-F238E27FC236}">
                <a16:creationId xmlns:a16="http://schemas.microsoft.com/office/drawing/2014/main" id="{DB8C70B9-B5DF-2425-631A-10E1239D44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6191" y="2248210"/>
            <a:ext cx="2613989" cy="1324704"/>
          </a:xfrm>
          <a:prstGeom prst="rect">
            <a:avLst/>
          </a:prstGeom>
        </p:spPr>
      </p:pic>
      <p:pic>
        <p:nvPicPr>
          <p:cNvPr id="13" name="Picture 12" descr="A close-up of a blue and black sign&#10;&#10;AI-generated content may be incorrect.">
            <a:extLst>
              <a:ext uri="{FF2B5EF4-FFF2-40B4-BE49-F238E27FC236}">
                <a16:creationId xmlns:a16="http://schemas.microsoft.com/office/drawing/2014/main" id="{8F3CC617-2B78-408F-6A24-20B5222A7D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77411" y="3640139"/>
            <a:ext cx="2613989" cy="1312399"/>
          </a:xfrm>
          <a:prstGeom prst="rect">
            <a:avLst/>
          </a:prstGeom>
        </p:spPr>
      </p:pic>
      <p:pic>
        <p:nvPicPr>
          <p:cNvPr id="15" name="Picture 14" descr="A close-up of a blue and black text&#10;&#10;AI-generated content may be incorrect.">
            <a:extLst>
              <a:ext uri="{FF2B5EF4-FFF2-40B4-BE49-F238E27FC236}">
                <a16:creationId xmlns:a16="http://schemas.microsoft.com/office/drawing/2014/main" id="{7325197E-0D4A-54F1-CF0C-DA6A691D58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7411" y="2248210"/>
            <a:ext cx="2613989" cy="1279765"/>
          </a:xfrm>
          <a:prstGeom prst="rect">
            <a:avLst/>
          </a:prstGeom>
        </p:spPr>
      </p:pic>
      <p:pic>
        <p:nvPicPr>
          <p:cNvPr id="19" name="Picture 18" descr="A close-up of a blue box&#10;&#10;AI-generated content may be incorrect.">
            <a:extLst>
              <a:ext uri="{FF2B5EF4-FFF2-40B4-BE49-F238E27FC236}">
                <a16:creationId xmlns:a16="http://schemas.microsoft.com/office/drawing/2014/main" id="{C9F4B415-B178-BA6D-EEF5-AE625CD716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09800" y="3640139"/>
            <a:ext cx="2438400" cy="1304758"/>
          </a:xfrm>
          <a:prstGeom prst="rect">
            <a:avLst/>
          </a:prstGeom>
        </p:spPr>
      </p:pic>
      <p:pic>
        <p:nvPicPr>
          <p:cNvPr id="30" name="Picture 29" descr="A close-up of a blue box&#10;&#10;AI-generated content may be incorrect.">
            <a:extLst>
              <a:ext uri="{FF2B5EF4-FFF2-40B4-BE49-F238E27FC236}">
                <a16:creationId xmlns:a16="http://schemas.microsoft.com/office/drawing/2014/main" id="{6AD6FD69-9327-8C44-DEA2-868866072C3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16190" y="3640138"/>
            <a:ext cx="2613989" cy="853017"/>
          </a:xfrm>
          <a:prstGeom prst="rect">
            <a:avLst/>
          </a:prstGeom>
        </p:spPr>
      </p:pic>
    </p:spTree>
    <p:extLst>
      <p:ext uri="{BB962C8B-B14F-4D97-AF65-F5344CB8AC3E}">
        <p14:creationId xmlns:p14="http://schemas.microsoft.com/office/powerpoint/2010/main" val="1288708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72E47F-157E-C9DE-9C35-6B5348391D52}"/>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B5DC8176-871F-8351-8ECE-646F476FC7AB}"/>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FC25ABD1-7958-DA6A-1C94-7EAA6561F73E}"/>
              </a:ext>
            </a:extLst>
          </p:cNvPr>
          <p:cNvSpPr>
            <a:spLocks noGrp="1"/>
          </p:cNvSpPr>
          <p:nvPr>
            <p:ph type="sldNum" sz="quarter" idx="12"/>
          </p:nvPr>
        </p:nvSpPr>
        <p:spPr/>
        <p:txBody>
          <a:bodyPr/>
          <a:lstStyle/>
          <a:p>
            <a:pPr>
              <a:defRPr/>
            </a:pPr>
            <a:fld id="{51A8E585-845B-497D-BF2F-352F8654D138}" type="slidenum">
              <a:rPr lang="en-US" altLang="en-US" smtClean="0"/>
              <a:pPr>
                <a:defRPr/>
              </a:pPr>
              <a:t>14</a:t>
            </a:fld>
            <a:endParaRPr lang="en-US" altLang="en-US" sz="1100"/>
          </a:p>
        </p:txBody>
      </p:sp>
      <p:sp>
        <p:nvSpPr>
          <p:cNvPr id="5" name="Title 4">
            <a:extLst>
              <a:ext uri="{FF2B5EF4-FFF2-40B4-BE49-F238E27FC236}">
                <a16:creationId xmlns:a16="http://schemas.microsoft.com/office/drawing/2014/main" id="{196902C4-9EEF-DDD2-DA0D-A3B9CEC3029A}"/>
              </a:ext>
            </a:extLst>
          </p:cNvPr>
          <p:cNvSpPr>
            <a:spLocks noGrp="1"/>
          </p:cNvSpPr>
          <p:nvPr>
            <p:ph type="title"/>
          </p:nvPr>
        </p:nvSpPr>
        <p:spPr/>
        <p:txBody>
          <a:bodyPr/>
          <a:lstStyle/>
          <a:p>
            <a:r>
              <a:rPr lang="en-US" dirty="0"/>
              <a:t>Evolution into {val.*} Packages</a:t>
            </a:r>
          </a:p>
        </p:txBody>
      </p:sp>
      <p:pic>
        <p:nvPicPr>
          <p:cNvPr id="11" name="Picture 10">
            <a:extLst>
              <a:ext uri="{FF2B5EF4-FFF2-40B4-BE49-F238E27FC236}">
                <a16:creationId xmlns:a16="http://schemas.microsoft.com/office/drawing/2014/main" id="{88E17471-288A-BDD4-6B40-4C7E80F42D46}"/>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pic>
        <p:nvPicPr>
          <p:cNvPr id="16" name="Picture 15" descr="A diagram of a company&#10;&#10;AI-generated content may be incorrect.">
            <a:extLst>
              <a:ext uri="{FF2B5EF4-FFF2-40B4-BE49-F238E27FC236}">
                <a16:creationId xmlns:a16="http://schemas.microsoft.com/office/drawing/2014/main" id="{3BBEC1A7-0867-1209-4E7D-7C0091989B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800" y="1451572"/>
            <a:ext cx="6419157" cy="4960941"/>
          </a:xfrm>
          <a:prstGeom prst="rect">
            <a:avLst/>
          </a:prstGeom>
          <a:ln>
            <a:solidFill>
              <a:schemeClr val="tx2">
                <a:lumMod val="60000"/>
                <a:lumOff val="40000"/>
              </a:schemeClr>
            </a:solidFill>
          </a:ln>
        </p:spPr>
      </p:pic>
      <p:sp>
        <p:nvSpPr>
          <p:cNvPr id="17" name="TextBox 16">
            <a:extLst>
              <a:ext uri="{FF2B5EF4-FFF2-40B4-BE49-F238E27FC236}">
                <a16:creationId xmlns:a16="http://schemas.microsoft.com/office/drawing/2014/main" id="{DFB08770-D1B1-5EAA-9308-5BE4CEB5AB0E}"/>
              </a:ext>
            </a:extLst>
          </p:cNvPr>
          <p:cNvSpPr txBox="1"/>
          <p:nvPr/>
        </p:nvSpPr>
        <p:spPr>
          <a:xfrm>
            <a:off x="728268" y="1447800"/>
            <a:ext cx="4121727" cy="227754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t>Decisions from a Dev Day hosted in April 2025 inspired evolution from {</a:t>
            </a:r>
            <a:r>
              <a:rPr lang="en-US" sz="1600" dirty="0" err="1"/>
              <a:t>riskmetric</a:t>
            </a:r>
            <a:r>
              <a:rPr lang="en-US" sz="1600" dirty="0"/>
              <a:t>}</a:t>
            </a:r>
          </a:p>
          <a:p>
            <a:pPr marL="285750" indent="-285750">
              <a:lnSpc>
                <a:spcPct val="150000"/>
              </a:lnSpc>
              <a:buFont typeface="Arial" panose="020B0604020202020204" pitchFamily="34" charset="0"/>
              <a:buChar char="•"/>
            </a:pPr>
            <a:r>
              <a:rPr lang="en-US" sz="1600" dirty="0"/>
              <a:t>Plans of splitting up the mature {</a:t>
            </a:r>
            <a:r>
              <a:rPr lang="en-US" sz="1600" dirty="0" err="1"/>
              <a:t>riskmetric</a:t>
            </a:r>
            <a:r>
              <a:rPr lang="en-US" sz="1600" dirty="0"/>
              <a:t>} solution into a family of packages</a:t>
            </a:r>
          </a:p>
        </p:txBody>
      </p:sp>
      <p:sp>
        <p:nvSpPr>
          <p:cNvPr id="19" name="Rectangle 18">
            <a:extLst>
              <a:ext uri="{FF2B5EF4-FFF2-40B4-BE49-F238E27FC236}">
                <a16:creationId xmlns:a16="http://schemas.microsoft.com/office/drawing/2014/main" id="{455E444E-8F95-6A45-952A-9ACCAC585562}"/>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riskmetric</a:t>
            </a:r>
            <a:r>
              <a:rPr lang="en-US" sz="1400" dirty="0"/>
              <a:t>} / {val.*} Packages</a:t>
            </a:r>
          </a:p>
        </p:txBody>
      </p:sp>
    </p:spTree>
    <p:extLst>
      <p:ext uri="{BB962C8B-B14F-4D97-AF65-F5344CB8AC3E}">
        <p14:creationId xmlns:p14="http://schemas.microsoft.com/office/powerpoint/2010/main" val="4167167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30AC48-17AC-D651-C9D5-D719C791BFD7}"/>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4E37CC35-22CD-734D-ED17-4B80DA8FF903}"/>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4CFBF2E-3DD9-F689-F76C-D16E4046632B}"/>
              </a:ext>
            </a:extLst>
          </p:cNvPr>
          <p:cNvSpPr>
            <a:spLocks noGrp="1"/>
          </p:cNvSpPr>
          <p:nvPr>
            <p:ph type="sldNum" sz="quarter" idx="12"/>
          </p:nvPr>
        </p:nvSpPr>
        <p:spPr/>
        <p:txBody>
          <a:bodyPr/>
          <a:lstStyle/>
          <a:p>
            <a:pPr>
              <a:defRPr/>
            </a:pPr>
            <a:fld id="{51A8E585-845B-497D-BF2F-352F8654D138}" type="slidenum">
              <a:rPr lang="en-US" altLang="en-US" smtClean="0"/>
              <a:pPr>
                <a:defRPr/>
              </a:pPr>
              <a:t>15</a:t>
            </a:fld>
            <a:endParaRPr lang="en-US" altLang="en-US" sz="1100"/>
          </a:p>
        </p:txBody>
      </p:sp>
      <p:sp>
        <p:nvSpPr>
          <p:cNvPr id="5" name="Title 4">
            <a:extLst>
              <a:ext uri="{FF2B5EF4-FFF2-40B4-BE49-F238E27FC236}">
                <a16:creationId xmlns:a16="http://schemas.microsoft.com/office/drawing/2014/main" id="{552BBC12-EE57-18E8-DF67-2D61E9922120}"/>
              </a:ext>
            </a:extLst>
          </p:cNvPr>
          <p:cNvSpPr>
            <a:spLocks noGrp="1"/>
          </p:cNvSpPr>
          <p:nvPr>
            <p:ph type="title"/>
          </p:nvPr>
        </p:nvSpPr>
        <p:spPr/>
        <p:txBody>
          <a:bodyPr/>
          <a:lstStyle/>
          <a:p>
            <a:r>
              <a:rPr lang="en-US" dirty="0"/>
              <a:t>Who is {val.*} Intended for?</a:t>
            </a:r>
          </a:p>
        </p:txBody>
      </p:sp>
      <p:pic>
        <p:nvPicPr>
          <p:cNvPr id="14" name="Picture 13">
            <a:extLst>
              <a:ext uri="{FF2B5EF4-FFF2-40B4-BE49-F238E27FC236}">
                <a16:creationId xmlns:a16="http://schemas.microsoft.com/office/drawing/2014/main" id="{507B88CF-9159-F5AA-12E6-F172EA6F5531}"/>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pic>
        <p:nvPicPr>
          <p:cNvPr id="4098" name="Picture 2">
            <a:extLst>
              <a:ext uri="{FF2B5EF4-FFF2-40B4-BE49-F238E27FC236}">
                <a16:creationId xmlns:a16="http://schemas.microsoft.com/office/drawing/2014/main" id="{92D04462-90E0-7118-D68A-129E0AC8D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447800"/>
            <a:ext cx="5712655" cy="4897533"/>
          </a:xfrm>
          <a:prstGeom prst="rect">
            <a:avLst/>
          </a:prstGeom>
          <a:noFill/>
          <a:ln>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sp>
        <p:nvSpPr>
          <p:cNvPr id="15" name="7-Point Star 14">
            <a:extLst>
              <a:ext uri="{FF2B5EF4-FFF2-40B4-BE49-F238E27FC236}">
                <a16:creationId xmlns:a16="http://schemas.microsoft.com/office/drawing/2014/main" id="{B630EB64-871D-239C-475E-A1CC03E87847}"/>
              </a:ext>
            </a:extLst>
          </p:cNvPr>
          <p:cNvSpPr/>
          <p:nvPr/>
        </p:nvSpPr>
        <p:spPr>
          <a:xfrm rot="808548">
            <a:off x="7920589" y="4301454"/>
            <a:ext cx="3388209" cy="1672111"/>
          </a:xfrm>
          <a:prstGeom prst="star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AB178DC-C930-27B4-05A0-7F470F6A8EF2}"/>
              </a:ext>
            </a:extLst>
          </p:cNvPr>
          <p:cNvSpPr txBox="1"/>
          <p:nvPr/>
        </p:nvSpPr>
        <p:spPr>
          <a:xfrm rot="849970">
            <a:off x="8580126" y="4794778"/>
            <a:ext cx="2559052" cy="800219"/>
          </a:xfrm>
          <a:prstGeom prst="rect">
            <a:avLst/>
          </a:prstGeom>
          <a:noFill/>
        </p:spPr>
        <p:txBody>
          <a:bodyPr wrap="square">
            <a:spAutoFit/>
          </a:bodyPr>
          <a:lstStyle/>
          <a:p>
            <a:pPr>
              <a:lnSpc>
                <a:spcPct val="150000"/>
              </a:lnSpc>
            </a:pPr>
            <a:r>
              <a:rPr lang="en-US" sz="1600" i="1" dirty="0">
                <a:solidFill>
                  <a:schemeClr val="bg1"/>
                </a:solidFill>
              </a:rPr>
              <a:t>Analysts, reviewers, and auditors alike!</a:t>
            </a:r>
          </a:p>
        </p:txBody>
      </p:sp>
      <p:sp>
        <p:nvSpPr>
          <p:cNvPr id="16" name="Rectangle 15">
            <a:extLst>
              <a:ext uri="{FF2B5EF4-FFF2-40B4-BE49-F238E27FC236}">
                <a16:creationId xmlns:a16="http://schemas.microsoft.com/office/drawing/2014/main" id="{FF0DF244-0C06-E40E-F9C9-D294834E5D98}"/>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riskmetric</a:t>
            </a:r>
            <a:r>
              <a:rPr lang="en-US" sz="1400" dirty="0"/>
              <a:t>} / {val.*} Packages</a:t>
            </a:r>
          </a:p>
        </p:txBody>
      </p:sp>
    </p:spTree>
    <p:extLst>
      <p:ext uri="{BB962C8B-B14F-4D97-AF65-F5344CB8AC3E}">
        <p14:creationId xmlns:p14="http://schemas.microsoft.com/office/powerpoint/2010/main" val="2511559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90A9F-DF02-B768-B755-056F010EB6A0}"/>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CA786AD0-0F8E-AD93-EDD9-4F0FB6527997}"/>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3502BA32-24C4-84C1-6CC4-23A6F636D1F1}"/>
              </a:ext>
            </a:extLst>
          </p:cNvPr>
          <p:cNvSpPr>
            <a:spLocks noGrp="1"/>
          </p:cNvSpPr>
          <p:nvPr>
            <p:ph type="sldNum" sz="quarter" idx="12"/>
          </p:nvPr>
        </p:nvSpPr>
        <p:spPr/>
        <p:txBody>
          <a:bodyPr/>
          <a:lstStyle/>
          <a:p>
            <a:pPr>
              <a:defRPr/>
            </a:pPr>
            <a:fld id="{51A8E585-845B-497D-BF2F-352F8654D138}" type="slidenum">
              <a:rPr lang="en-US" altLang="en-US" smtClean="0"/>
              <a:pPr>
                <a:defRPr/>
              </a:pPr>
              <a:t>16</a:t>
            </a:fld>
            <a:endParaRPr lang="en-US" altLang="en-US" sz="1100"/>
          </a:p>
        </p:txBody>
      </p:sp>
      <p:sp>
        <p:nvSpPr>
          <p:cNvPr id="5" name="Title 4">
            <a:extLst>
              <a:ext uri="{FF2B5EF4-FFF2-40B4-BE49-F238E27FC236}">
                <a16:creationId xmlns:a16="http://schemas.microsoft.com/office/drawing/2014/main" id="{04349D6E-E7C5-63A6-013D-2C3F150DBF2D}"/>
              </a:ext>
            </a:extLst>
          </p:cNvPr>
          <p:cNvSpPr>
            <a:spLocks noGrp="1"/>
          </p:cNvSpPr>
          <p:nvPr>
            <p:ph type="title"/>
          </p:nvPr>
        </p:nvSpPr>
        <p:spPr/>
        <p:txBody>
          <a:bodyPr>
            <a:normAutofit/>
          </a:bodyPr>
          <a:lstStyle/>
          <a:p>
            <a:pPr lvl="0"/>
            <a:r>
              <a:rPr lang="en-US" sz="2800" dirty="0">
                <a:solidFill>
                  <a:schemeClr val="tx1">
                    <a:lumMod val="75000"/>
                    <a:lumOff val="25000"/>
                  </a:schemeClr>
                </a:solidFill>
              </a:rPr>
              <a:t>Regulatory R Repository </a:t>
            </a:r>
          </a:p>
        </p:txBody>
      </p:sp>
      <p:pic>
        <p:nvPicPr>
          <p:cNvPr id="6" name="Picture Placeholder 6" descr="Interior of warehouse">
            <a:extLst>
              <a:ext uri="{FF2B5EF4-FFF2-40B4-BE49-F238E27FC236}">
                <a16:creationId xmlns:a16="http://schemas.microsoft.com/office/drawing/2014/main" id="{7E5B8FC4-8267-2DC5-1AEB-8272C268EA1F}"/>
              </a:ext>
            </a:extLst>
          </p:cNvPr>
          <p:cNvPicPr>
            <a:picLocks noChangeAspect="1"/>
          </p:cNvPicPr>
          <p:nvPr/>
        </p:nvPicPr>
        <p:blipFill>
          <a:blip r:embed="rId2" cstate="print">
            <a:extLst>
              <a:ext uri="{28A0092B-C50C-407E-A947-70E740481C1C}">
                <a14:useLocalDpi xmlns:a14="http://schemas.microsoft.com/office/drawing/2010/main" val="0"/>
              </a:ext>
            </a:extLst>
          </a:blip>
          <a:srcRect l="16873" r="16873"/>
          <a:stretch>
            <a:fillRect/>
          </a:stretch>
        </p:blipFill>
        <p:spPr>
          <a:xfrm>
            <a:off x="3864504" y="1414021"/>
            <a:ext cx="4462991" cy="44958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4AE22E81-1878-DFBE-0616-742A5754C6BD}"/>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711300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14297-A9ED-E8F6-BA79-0C059DF43C3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517BD98-8645-40D6-3C38-8C33FC868475}"/>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6CE2D3CE-FB22-9FC8-73D6-861AFF0D1B92}"/>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70FEB108-3DF9-4B9F-D4E5-7CA36A5868F2}"/>
              </a:ext>
            </a:extLst>
          </p:cNvPr>
          <p:cNvSpPr>
            <a:spLocks noGrp="1"/>
          </p:cNvSpPr>
          <p:nvPr>
            <p:ph type="sldNum" sz="quarter" idx="12"/>
          </p:nvPr>
        </p:nvSpPr>
        <p:spPr/>
        <p:txBody>
          <a:bodyPr/>
          <a:lstStyle/>
          <a:p>
            <a:pPr>
              <a:defRPr/>
            </a:pPr>
            <a:fld id="{51A8E585-845B-497D-BF2F-352F8654D138}" type="slidenum">
              <a:rPr lang="en-US" altLang="en-US" smtClean="0"/>
              <a:pPr>
                <a:defRPr/>
              </a:pPr>
              <a:t>17</a:t>
            </a:fld>
            <a:endParaRPr lang="en-US" altLang="en-US" sz="1100"/>
          </a:p>
        </p:txBody>
      </p:sp>
      <p:sp>
        <p:nvSpPr>
          <p:cNvPr id="5" name="Title 4">
            <a:extLst>
              <a:ext uri="{FF2B5EF4-FFF2-40B4-BE49-F238E27FC236}">
                <a16:creationId xmlns:a16="http://schemas.microsoft.com/office/drawing/2014/main" id="{90FF94EC-0988-C092-B5D2-7CA57913D47E}"/>
              </a:ext>
            </a:extLst>
          </p:cNvPr>
          <p:cNvSpPr>
            <a:spLocks noGrp="1"/>
          </p:cNvSpPr>
          <p:nvPr>
            <p:ph type="title"/>
          </p:nvPr>
        </p:nvSpPr>
        <p:spPr/>
        <p:txBody>
          <a:bodyPr/>
          <a:lstStyle/>
          <a:p>
            <a:r>
              <a:rPr lang="en-US" dirty="0"/>
              <a:t>About the Initiative</a:t>
            </a:r>
          </a:p>
        </p:txBody>
      </p:sp>
      <p:sp>
        <p:nvSpPr>
          <p:cNvPr id="6" name="Rectangle 5">
            <a:extLst>
              <a:ext uri="{FF2B5EF4-FFF2-40B4-BE49-F238E27FC236}">
                <a16:creationId xmlns:a16="http://schemas.microsoft.com/office/drawing/2014/main" id="{E0A4B769-8212-6484-8A1C-114A65E49401}"/>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Regulatory R Repository</a:t>
            </a:r>
          </a:p>
        </p:txBody>
      </p:sp>
      <p:pic>
        <p:nvPicPr>
          <p:cNvPr id="8" name="Picture 7">
            <a:extLst>
              <a:ext uri="{FF2B5EF4-FFF2-40B4-BE49-F238E27FC236}">
                <a16:creationId xmlns:a16="http://schemas.microsoft.com/office/drawing/2014/main" id="{C9DD3131-C6E5-C90F-D6A0-88D866E84732}"/>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sp>
        <p:nvSpPr>
          <p:cNvPr id="9" name="TextBox 8">
            <a:extLst>
              <a:ext uri="{FF2B5EF4-FFF2-40B4-BE49-F238E27FC236}">
                <a16:creationId xmlns:a16="http://schemas.microsoft.com/office/drawing/2014/main" id="{1E93FAEA-0B58-705A-D09E-9A2705E9D4D0}"/>
              </a:ext>
            </a:extLst>
          </p:cNvPr>
          <p:cNvSpPr txBox="1"/>
          <p:nvPr/>
        </p:nvSpPr>
        <p:spPr>
          <a:xfrm>
            <a:off x="678872" y="1633689"/>
            <a:ext cx="9455727" cy="4770537"/>
          </a:xfrm>
          <a:prstGeom prst="rect">
            <a:avLst/>
          </a:prstGeom>
          <a:noFill/>
        </p:spPr>
        <p:txBody>
          <a:bodyPr wrap="square">
            <a:spAutoFit/>
          </a:bodyPr>
          <a:lstStyle/>
          <a:p>
            <a:pPr marL="285750" indent="-285750">
              <a:buFont typeface="Arial" panose="020B0604020202020204" pitchFamily="34" charset="0"/>
              <a:buChar char="•"/>
            </a:pPr>
            <a:r>
              <a:rPr lang="en-US" sz="1600" dirty="0"/>
              <a:t>What It Is / Our Vision</a:t>
            </a:r>
          </a:p>
          <a:p>
            <a:pPr marL="742950" lvl="1" indent="-285750">
              <a:buFont typeface="Arial" panose="020B0604020202020204" pitchFamily="34" charset="0"/>
              <a:buChar char="•"/>
            </a:pPr>
            <a:r>
              <a:rPr lang="en-US" sz="1600" dirty="0"/>
              <a:t>An open-source repository (CRAN-like) of risk assessments available to all, providing quantifiable package qualities</a:t>
            </a:r>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r>
              <a:rPr lang="en-US" sz="1600" dirty="0"/>
              <a:t>A future part of an R Validation Hub Submissions working group pilot (2026); health authority experimentation</a:t>
            </a:r>
          </a:p>
          <a:p>
            <a:pPr marL="742950" lvl="1" indent="-285750">
              <a:buFont typeface="Arial" panose="020B0604020202020204" pitchFamily="34" charset="0"/>
              <a:buChar char="•"/>
            </a:pPr>
            <a:r>
              <a:rPr lang="en-US" sz="1600" dirty="0"/>
              <a:t> </a:t>
            </a:r>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Goals</a:t>
            </a:r>
          </a:p>
          <a:p>
            <a:pPr marL="742950" lvl="1" indent="-285750">
              <a:buFont typeface="Arial" panose="020B0604020202020204" pitchFamily="34" charset="0"/>
              <a:buChar char="•"/>
            </a:pPr>
            <a:r>
              <a:rPr lang="en-US" sz="1600" dirty="0"/>
              <a:t>Empower </a:t>
            </a:r>
            <a:r>
              <a:rPr lang="en-US" sz="1600" b="1" dirty="0"/>
              <a:t>consistent</a:t>
            </a:r>
            <a:r>
              <a:rPr lang="en-US" sz="1600" dirty="0"/>
              <a:t>, </a:t>
            </a:r>
            <a:r>
              <a:rPr lang="en-US" sz="1600" b="1" dirty="0"/>
              <a:t>reproducible</a:t>
            </a:r>
            <a:r>
              <a:rPr lang="en-US" sz="1600" dirty="0"/>
              <a:t>, and </a:t>
            </a:r>
            <a:r>
              <a:rPr lang="en-US" sz="1600" b="1" dirty="0"/>
              <a:t>transparent</a:t>
            </a:r>
            <a:r>
              <a:rPr lang="en-US" sz="1600" dirty="0"/>
              <a:t> validation</a:t>
            </a:r>
          </a:p>
          <a:p>
            <a:pPr marL="742950" lvl="1" indent="-285750">
              <a:buFont typeface="Arial" panose="020B0604020202020204" pitchFamily="34" charset="0"/>
              <a:buChar char="•"/>
            </a:pPr>
            <a:r>
              <a:rPr lang="en-US" sz="1600" b="1" dirty="0"/>
              <a:t>Lower the barrier </a:t>
            </a:r>
            <a:r>
              <a:rPr lang="en-US" sz="1600" dirty="0"/>
              <a:t>to entry for start-ups</a:t>
            </a:r>
          </a:p>
          <a:p>
            <a:pPr marL="742950" lvl="1" indent="-285750">
              <a:buFont typeface="Arial" panose="020B0604020202020204" pitchFamily="34" charset="0"/>
              <a:buChar char="•"/>
            </a:pPr>
            <a:r>
              <a:rPr lang="en-US" sz="1600" dirty="0"/>
              <a:t>Empower </a:t>
            </a:r>
            <a:r>
              <a:rPr lang="en-US" sz="1600" b="1" dirty="0"/>
              <a:t>consistency among contract research organizations (CROs)</a:t>
            </a:r>
          </a:p>
          <a:p>
            <a:pPr marL="742950" lvl="1" indent="-285750">
              <a:buFont typeface="Arial" panose="020B0604020202020204" pitchFamily="34" charset="0"/>
              <a:buChar char="•"/>
            </a:pPr>
            <a:r>
              <a:rPr lang="en-US" sz="1600" b="1" dirty="0"/>
              <a:t>Improve the speed of regulatory review </a:t>
            </a:r>
            <a:r>
              <a:rPr lang="en-US" sz="1600" dirty="0"/>
              <a:t>for established enterprises</a:t>
            </a:r>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Recent strides</a:t>
            </a:r>
          </a:p>
          <a:p>
            <a:pPr marL="742950" lvl="1" indent="-285750">
              <a:buFont typeface="Arial" panose="020B0604020202020204" pitchFamily="34" charset="0"/>
              <a:buChar char="•"/>
            </a:pPr>
            <a:r>
              <a:rPr lang="en-US" sz="1600" dirty="0"/>
              <a:t>Progress with {val.*} packages to bring us closer to public-facing dashboard </a:t>
            </a:r>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r>
              <a:rPr lang="en-US" sz="1600" dirty="0"/>
              <a:t>Companies providing talent for development</a:t>
            </a:r>
            <a:br>
              <a:rPr lang="en-US" sz="1600" dirty="0"/>
            </a:br>
            <a:endParaRPr lang="en-US" sz="1600" dirty="0">
              <a:solidFill>
                <a:schemeClr val="accent1">
                  <a:lumMod val="50000"/>
                </a:schemeClr>
              </a:solidFill>
            </a:endParaRPr>
          </a:p>
        </p:txBody>
      </p:sp>
    </p:spTree>
    <p:extLst>
      <p:ext uri="{BB962C8B-B14F-4D97-AF65-F5344CB8AC3E}">
        <p14:creationId xmlns:p14="http://schemas.microsoft.com/office/powerpoint/2010/main" val="1513960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7B965-F773-4D75-5945-916B6DAE499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6916285-4206-8320-EB58-468459FEF388}"/>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9B802875-33AF-D336-D5BF-25973E348045}"/>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3768F513-AF73-64C3-3A6F-C50F40EBA2AB}"/>
              </a:ext>
            </a:extLst>
          </p:cNvPr>
          <p:cNvSpPr>
            <a:spLocks noGrp="1"/>
          </p:cNvSpPr>
          <p:nvPr>
            <p:ph type="sldNum" sz="quarter" idx="12"/>
          </p:nvPr>
        </p:nvSpPr>
        <p:spPr/>
        <p:txBody>
          <a:bodyPr/>
          <a:lstStyle/>
          <a:p>
            <a:pPr>
              <a:defRPr/>
            </a:pPr>
            <a:fld id="{51A8E585-845B-497D-BF2F-352F8654D138}" type="slidenum">
              <a:rPr lang="en-US" altLang="en-US" smtClean="0"/>
              <a:pPr>
                <a:defRPr/>
              </a:pPr>
              <a:t>18</a:t>
            </a:fld>
            <a:endParaRPr lang="en-US" altLang="en-US" sz="1100"/>
          </a:p>
        </p:txBody>
      </p:sp>
      <p:sp>
        <p:nvSpPr>
          <p:cNvPr id="5" name="Title 4">
            <a:extLst>
              <a:ext uri="{FF2B5EF4-FFF2-40B4-BE49-F238E27FC236}">
                <a16:creationId xmlns:a16="http://schemas.microsoft.com/office/drawing/2014/main" id="{48019AE8-A5E6-3B79-82B5-2413381031AB}"/>
              </a:ext>
            </a:extLst>
          </p:cNvPr>
          <p:cNvSpPr>
            <a:spLocks noGrp="1"/>
          </p:cNvSpPr>
          <p:nvPr>
            <p:ph type="title"/>
          </p:nvPr>
        </p:nvSpPr>
        <p:spPr/>
        <p:txBody>
          <a:bodyPr>
            <a:normAutofit/>
          </a:bodyPr>
          <a:lstStyle/>
          <a:p>
            <a:r>
              <a:rPr lang="en-US" dirty="0"/>
              <a:t>Check Out More on Our Site</a:t>
            </a:r>
          </a:p>
        </p:txBody>
      </p:sp>
      <p:sp>
        <p:nvSpPr>
          <p:cNvPr id="6" name="Rectangle 5">
            <a:extLst>
              <a:ext uri="{FF2B5EF4-FFF2-40B4-BE49-F238E27FC236}">
                <a16:creationId xmlns:a16="http://schemas.microsoft.com/office/drawing/2014/main" id="{DFABC756-E949-D93F-C76B-8A1153E75602}"/>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Regulatory R Repository</a:t>
            </a:r>
          </a:p>
        </p:txBody>
      </p:sp>
      <p:pic>
        <p:nvPicPr>
          <p:cNvPr id="8" name="Picture 7">
            <a:extLst>
              <a:ext uri="{FF2B5EF4-FFF2-40B4-BE49-F238E27FC236}">
                <a16:creationId xmlns:a16="http://schemas.microsoft.com/office/drawing/2014/main" id="{FD236A4F-F8B2-6314-9308-953DC05C99F2}"/>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pic>
        <p:nvPicPr>
          <p:cNvPr id="11" name="Picture 10" descr="A screenshot of a video chat&#10;&#10;AI-generated content may be incorrect.">
            <a:extLst>
              <a:ext uri="{FF2B5EF4-FFF2-40B4-BE49-F238E27FC236}">
                <a16:creationId xmlns:a16="http://schemas.microsoft.com/office/drawing/2014/main" id="{53FCA789-0D1F-ACE3-D8A5-D62A017B66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1441101"/>
            <a:ext cx="5397500" cy="4543037"/>
          </a:xfrm>
          <a:prstGeom prst="rect">
            <a:avLst/>
          </a:prstGeom>
          <a:ln>
            <a:solidFill>
              <a:schemeClr val="tx2">
                <a:lumMod val="60000"/>
                <a:lumOff val="40000"/>
              </a:schemeClr>
            </a:solidFill>
          </a:ln>
        </p:spPr>
      </p:pic>
      <p:sp>
        <p:nvSpPr>
          <p:cNvPr id="13" name="TextBox 12">
            <a:extLst>
              <a:ext uri="{FF2B5EF4-FFF2-40B4-BE49-F238E27FC236}">
                <a16:creationId xmlns:a16="http://schemas.microsoft.com/office/drawing/2014/main" id="{FDCE16E8-5834-7474-2E82-F82A4DDEA4E7}"/>
              </a:ext>
            </a:extLst>
          </p:cNvPr>
          <p:cNvSpPr txBox="1"/>
          <p:nvPr/>
        </p:nvSpPr>
        <p:spPr>
          <a:xfrm>
            <a:off x="2362200" y="6039409"/>
            <a:ext cx="2667000" cy="276999"/>
          </a:xfrm>
          <a:prstGeom prst="rect">
            <a:avLst/>
          </a:prstGeom>
          <a:noFill/>
        </p:spPr>
        <p:txBody>
          <a:bodyPr wrap="square">
            <a:spAutoFit/>
          </a:bodyPr>
          <a:lstStyle/>
          <a:p>
            <a:r>
              <a:rPr lang="en-US" sz="1200" dirty="0">
                <a:hlinkClick r:id="rId4"/>
              </a:rPr>
              <a:t>https://pharmar.org/repository/</a:t>
            </a:r>
            <a:r>
              <a:rPr lang="en-US" sz="1200" dirty="0"/>
              <a:t> </a:t>
            </a:r>
          </a:p>
        </p:txBody>
      </p:sp>
      <p:pic>
        <p:nvPicPr>
          <p:cNvPr id="15" name="Picture 14" descr="A document with text and blue text&#10;&#10;AI-generated content may be incorrect.">
            <a:extLst>
              <a:ext uri="{FF2B5EF4-FFF2-40B4-BE49-F238E27FC236}">
                <a16:creationId xmlns:a16="http://schemas.microsoft.com/office/drawing/2014/main" id="{F5503B43-34FF-0917-C085-6FD064AEFE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2100" y="1441101"/>
            <a:ext cx="2493941" cy="3200400"/>
          </a:xfrm>
          <a:prstGeom prst="rect">
            <a:avLst/>
          </a:prstGeom>
          <a:ln>
            <a:solidFill>
              <a:schemeClr val="tx2">
                <a:lumMod val="60000"/>
                <a:lumOff val="40000"/>
              </a:schemeClr>
            </a:solidFill>
          </a:ln>
        </p:spPr>
      </p:pic>
    </p:spTree>
    <p:extLst>
      <p:ext uri="{BB962C8B-B14F-4D97-AF65-F5344CB8AC3E}">
        <p14:creationId xmlns:p14="http://schemas.microsoft.com/office/powerpoint/2010/main" val="422858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0C2B4E-FE9E-0D09-DBCE-5B8590710977}"/>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5386530F-3B02-EF77-2B7B-33431793E30D}"/>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4D0FD934-91C7-181B-05F2-5BB5D55B4F5A}"/>
              </a:ext>
            </a:extLst>
          </p:cNvPr>
          <p:cNvSpPr>
            <a:spLocks noGrp="1"/>
          </p:cNvSpPr>
          <p:nvPr>
            <p:ph type="sldNum" sz="quarter" idx="12"/>
          </p:nvPr>
        </p:nvSpPr>
        <p:spPr/>
        <p:txBody>
          <a:bodyPr/>
          <a:lstStyle/>
          <a:p>
            <a:pPr>
              <a:defRPr/>
            </a:pPr>
            <a:fld id="{51A8E585-845B-497D-BF2F-352F8654D138}" type="slidenum">
              <a:rPr lang="en-US" altLang="en-US" smtClean="0"/>
              <a:pPr>
                <a:defRPr/>
              </a:pPr>
              <a:t>19</a:t>
            </a:fld>
            <a:endParaRPr lang="en-US" altLang="en-US" sz="1100"/>
          </a:p>
        </p:txBody>
      </p:sp>
      <p:sp>
        <p:nvSpPr>
          <p:cNvPr id="5" name="Title 4">
            <a:extLst>
              <a:ext uri="{FF2B5EF4-FFF2-40B4-BE49-F238E27FC236}">
                <a16:creationId xmlns:a16="http://schemas.microsoft.com/office/drawing/2014/main" id="{24BEB83C-E433-AB91-9F71-76A1E92A5F63}"/>
              </a:ext>
            </a:extLst>
          </p:cNvPr>
          <p:cNvSpPr>
            <a:spLocks noGrp="1"/>
          </p:cNvSpPr>
          <p:nvPr>
            <p:ph type="title"/>
          </p:nvPr>
        </p:nvSpPr>
        <p:spPr/>
        <p:txBody>
          <a:bodyPr/>
          <a:lstStyle/>
          <a:p>
            <a:r>
              <a:rPr lang="en-US" dirty="0"/>
              <a:t>Communications</a:t>
            </a:r>
          </a:p>
        </p:txBody>
      </p:sp>
      <p:pic>
        <p:nvPicPr>
          <p:cNvPr id="6" name="Picture Placeholder 6" descr="Five square speech bubbles in color">
            <a:extLst>
              <a:ext uri="{FF2B5EF4-FFF2-40B4-BE49-F238E27FC236}">
                <a16:creationId xmlns:a16="http://schemas.microsoft.com/office/drawing/2014/main" id="{FE0D4CA6-5401-A168-F0F5-663EFC71CB45}"/>
              </a:ext>
            </a:extLst>
          </p:cNvPr>
          <p:cNvPicPr>
            <a:picLocks noChangeAspect="1"/>
          </p:cNvPicPr>
          <p:nvPr/>
        </p:nvPicPr>
        <p:blipFill>
          <a:blip r:embed="rId2" cstate="print">
            <a:extLst>
              <a:ext uri="{28A0092B-C50C-407E-A947-70E740481C1C}">
                <a14:useLocalDpi xmlns:a14="http://schemas.microsoft.com/office/drawing/2010/main" val="0"/>
              </a:ext>
            </a:extLst>
          </a:blip>
          <a:srcRect l="15239" r="15239"/>
          <a:stretch/>
        </p:blipFill>
        <p:spPr>
          <a:xfrm>
            <a:off x="3524106" y="1371996"/>
            <a:ext cx="5143787" cy="51816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D90C3CFE-1CDD-605B-DFAB-F8E20010D2B8}"/>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029752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2F32AF-5D84-0373-51E9-EBC5788DCBB3}"/>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17CBA1D7-846D-E86D-F39D-8EC8369FAFA5}"/>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DA91C6C5-9C79-C252-5AE8-BB5DBB246A21}"/>
              </a:ext>
            </a:extLst>
          </p:cNvPr>
          <p:cNvSpPr>
            <a:spLocks noGrp="1"/>
          </p:cNvSpPr>
          <p:nvPr>
            <p:ph type="sldNum" sz="quarter" idx="12"/>
          </p:nvPr>
        </p:nvSpPr>
        <p:spPr/>
        <p:txBody>
          <a:bodyPr/>
          <a:lstStyle/>
          <a:p>
            <a:pPr>
              <a:defRPr/>
            </a:pPr>
            <a:fld id="{51A8E585-845B-497D-BF2F-352F8654D138}" type="slidenum">
              <a:rPr lang="en-US" altLang="en-US" smtClean="0"/>
              <a:pPr>
                <a:defRPr/>
              </a:pPr>
              <a:t>20</a:t>
            </a:fld>
            <a:endParaRPr lang="en-US" altLang="en-US" sz="1100"/>
          </a:p>
        </p:txBody>
      </p:sp>
      <p:sp>
        <p:nvSpPr>
          <p:cNvPr id="5" name="Title 4">
            <a:extLst>
              <a:ext uri="{FF2B5EF4-FFF2-40B4-BE49-F238E27FC236}">
                <a16:creationId xmlns:a16="http://schemas.microsoft.com/office/drawing/2014/main" id="{446FEAD8-8133-B245-3FAE-893DFB5AF8C8}"/>
              </a:ext>
            </a:extLst>
          </p:cNvPr>
          <p:cNvSpPr>
            <a:spLocks noGrp="1"/>
          </p:cNvSpPr>
          <p:nvPr>
            <p:ph type="title"/>
          </p:nvPr>
        </p:nvSpPr>
        <p:spPr/>
        <p:txBody>
          <a:bodyPr/>
          <a:lstStyle/>
          <a:p>
            <a:r>
              <a:rPr lang="en-US" dirty="0"/>
              <a:t>Our Platforms</a:t>
            </a:r>
          </a:p>
        </p:txBody>
      </p:sp>
      <p:pic>
        <p:nvPicPr>
          <p:cNvPr id="6" name="Picture 5">
            <a:extLst>
              <a:ext uri="{FF2B5EF4-FFF2-40B4-BE49-F238E27FC236}">
                <a16:creationId xmlns:a16="http://schemas.microsoft.com/office/drawing/2014/main" id="{0D0559A9-BA6E-8F85-5974-C3E92EABDCBC}"/>
              </a:ext>
            </a:extLst>
          </p:cNvPr>
          <p:cNvPicPr>
            <a:picLocks noChangeAspect="1"/>
          </p:cNvPicPr>
          <p:nvPr/>
        </p:nvPicPr>
        <p:blipFill>
          <a:blip r:embed="rId2"/>
          <a:srcRect b="12767"/>
          <a:stretch>
            <a:fillRect/>
          </a:stretch>
        </p:blipFill>
        <p:spPr>
          <a:xfrm>
            <a:off x="456647" y="2155582"/>
            <a:ext cx="7398483" cy="4253159"/>
          </a:xfrm>
          <a:prstGeom prst="rect">
            <a:avLst/>
          </a:prstGeom>
        </p:spPr>
      </p:pic>
      <p:sp>
        <p:nvSpPr>
          <p:cNvPr id="7" name="Rectangle: Rounded Corners 6">
            <a:extLst>
              <a:ext uri="{FF2B5EF4-FFF2-40B4-BE49-F238E27FC236}">
                <a16:creationId xmlns:a16="http://schemas.microsoft.com/office/drawing/2014/main" id="{E53536F3-0A61-57DD-9599-40910A3F74AA}"/>
              </a:ext>
            </a:extLst>
          </p:cNvPr>
          <p:cNvSpPr/>
          <p:nvPr/>
        </p:nvSpPr>
        <p:spPr>
          <a:xfrm>
            <a:off x="456648" y="1547446"/>
            <a:ext cx="7398483" cy="59787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Website (pharmar.org)</a:t>
            </a:r>
          </a:p>
        </p:txBody>
      </p:sp>
      <p:sp>
        <p:nvSpPr>
          <p:cNvPr id="8" name="Rectangle: Rounded Corners 7">
            <a:extLst>
              <a:ext uri="{FF2B5EF4-FFF2-40B4-BE49-F238E27FC236}">
                <a16:creationId xmlns:a16="http://schemas.microsoft.com/office/drawing/2014/main" id="{816E77EF-D46D-7F85-A0C0-F0AA0547ACC6}"/>
              </a:ext>
            </a:extLst>
          </p:cNvPr>
          <p:cNvSpPr/>
          <p:nvPr/>
        </p:nvSpPr>
        <p:spPr>
          <a:xfrm>
            <a:off x="8294361" y="1538300"/>
            <a:ext cx="3440991" cy="59787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Community Meetings</a:t>
            </a:r>
          </a:p>
        </p:txBody>
      </p:sp>
      <p:sp>
        <p:nvSpPr>
          <p:cNvPr id="9" name="TextBox 8">
            <a:extLst>
              <a:ext uri="{FF2B5EF4-FFF2-40B4-BE49-F238E27FC236}">
                <a16:creationId xmlns:a16="http://schemas.microsoft.com/office/drawing/2014/main" id="{BA1DAAA4-3A20-FEC1-694F-DE44EFC6ADD5}"/>
              </a:ext>
            </a:extLst>
          </p:cNvPr>
          <p:cNvSpPr txBox="1"/>
          <p:nvPr/>
        </p:nvSpPr>
        <p:spPr>
          <a:xfrm>
            <a:off x="8294361" y="2223749"/>
            <a:ext cx="3440991" cy="2004395"/>
          </a:xfrm>
          <a:prstGeom prst="rect">
            <a:avLst/>
          </a:prstGeom>
          <a:noFill/>
        </p:spPr>
        <p:txBody>
          <a:bodyPr wrap="square">
            <a:spAutoFit/>
          </a:bodyPr>
          <a:lstStyle/>
          <a:p>
            <a:pPr>
              <a:lnSpc>
                <a:spcPct val="150000"/>
              </a:lnSpc>
            </a:pPr>
            <a:r>
              <a:rPr lang="en-US" sz="1400" dirty="0"/>
              <a:t>Past topics have included:</a:t>
            </a:r>
          </a:p>
          <a:p>
            <a:pPr marL="342900" indent="-342900">
              <a:lnSpc>
                <a:spcPct val="150000"/>
              </a:lnSpc>
              <a:buAutoNum type="arabicPeriod"/>
            </a:pPr>
            <a:r>
              <a:rPr lang="en-US" sz="1400" dirty="0"/>
              <a:t>Unraveling the term ‘Validation’</a:t>
            </a:r>
          </a:p>
          <a:p>
            <a:pPr marL="342900" indent="-342900">
              <a:lnSpc>
                <a:spcPct val="150000"/>
              </a:lnSpc>
              <a:buAutoNum type="arabicPeriod"/>
            </a:pPr>
            <a:r>
              <a:rPr lang="en-US" sz="1400" dirty="0"/>
              <a:t>Shiny App Validation in Regulatory Submissions</a:t>
            </a:r>
          </a:p>
          <a:p>
            <a:pPr marL="342900" indent="-342900">
              <a:lnSpc>
                <a:spcPct val="150000"/>
              </a:lnSpc>
              <a:buAutoNum type="arabicPeriod"/>
            </a:pPr>
            <a:r>
              <a:rPr lang="en-US" sz="1400" dirty="0"/>
              <a:t>Analyzing Change in Assessed Risk Across Package Releases</a:t>
            </a:r>
          </a:p>
        </p:txBody>
      </p:sp>
      <p:sp>
        <p:nvSpPr>
          <p:cNvPr id="11" name="Rectangle 10">
            <a:extLst>
              <a:ext uri="{FF2B5EF4-FFF2-40B4-BE49-F238E27FC236}">
                <a16:creationId xmlns:a16="http://schemas.microsoft.com/office/drawing/2014/main" id="{DBBB4856-3F76-6D1A-A97A-6E621B585CF2}"/>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Communications</a:t>
            </a:r>
          </a:p>
        </p:txBody>
      </p:sp>
      <p:pic>
        <p:nvPicPr>
          <p:cNvPr id="12" name="Picture 11">
            <a:extLst>
              <a:ext uri="{FF2B5EF4-FFF2-40B4-BE49-F238E27FC236}">
                <a16:creationId xmlns:a16="http://schemas.microsoft.com/office/drawing/2014/main" id="{9AE50269-0D01-66B7-35AF-F3ED4C9B6584}"/>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467993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0784CB-DB58-BB1A-1534-78FDD739809B}"/>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1076DFD2-CAF8-B9AB-3DD3-6B57C6ED73D8}"/>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50517D33-5BDA-0272-B6AB-D363312A3571}"/>
              </a:ext>
            </a:extLst>
          </p:cNvPr>
          <p:cNvSpPr>
            <a:spLocks noGrp="1"/>
          </p:cNvSpPr>
          <p:nvPr>
            <p:ph type="sldNum" sz="quarter" idx="12"/>
          </p:nvPr>
        </p:nvSpPr>
        <p:spPr/>
        <p:txBody>
          <a:bodyPr/>
          <a:lstStyle/>
          <a:p>
            <a:pPr>
              <a:defRPr/>
            </a:pPr>
            <a:fld id="{51A8E585-845B-497D-BF2F-352F8654D138}" type="slidenum">
              <a:rPr lang="en-US" altLang="en-US" smtClean="0"/>
              <a:pPr>
                <a:defRPr/>
              </a:pPr>
              <a:t>21</a:t>
            </a:fld>
            <a:endParaRPr lang="en-US" altLang="en-US" sz="1100"/>
          </a:p>
        </p:txBody>
      </p:sp>
      <p:sp>
        <p:nvSpPr>
          <p:cNvPr id="5" name="Title 4">
            <a:extLst>
              <a:ext uri="{FF2B5EF4-FFF2-40B4-BE49-F238E27FC236}">
                <a16:creationId xmlns:a16="http://schemas.microsoft.com/office/drawing/2014/main" id="{A488C08B-9975-227F-2F4A-26ACE26CC327}"/>
              </a:ext>
            </a:extLst>
          </p:cNvPr>
          <p:cNvSpPr>
            <a:spLocks noGrp="1"/>
          </p:cNvSpPr>
          <p:nvPr>
            <p:ph type="title"/>
          </p:nvPr>
        </p:nvSpPr>
        <p:spPr/>
        <p:txBody>
          <a:bodyPr/>
          <a:lstStyle/>
          <a:p>
            <a:r>
              <a:rPr lang="en-US" dirty="0"/>
              <a:t>Get Involved!!</a:t>
            </a:r>
          </a:p>
        </p:txBody>
      </p:sp>
      <p:sp>
        <p:nvSpPr>
          <p:cNvPr id="6" name="Rectangle 5">
            <a:extLst>
              <a:ext uri="{FF2B5EF4-FFF2-40B4-BE49-F238E27FC236}">
                <a16:creationId xmlns:a16="http://schemas.microsoft.com/office/drawing/2014/main" id="{3C7B3026-6AA6-30F1-9C5A-AE62DBD619FC}"/>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Communications</a:t>
            </a:r>
          </a:p>
        </p:txBody>
      </p:sp>
      <p:sp>
        <p:nvSpPr>
          <p:cNvPr id="7" name="Oval 6">
            <a:extLst>
              <a:ext uri="{FF2B5EF4-FFF2-40B4-BE49-F238E27FC236}">
                <a16:creationId xmlns:a16="http://schemas.microsoft.com/office/drawing/2014/main" id="{56AD1148-3786-3535-1629-AF5D0A5F2B8F}"/>
              </a:ext>
            </a:extLst>
          </p:cNvPr>
          <p:cNvSpPr/>
          <p:nvPr/>
        </p:nvSpPr>
        <p:spPr>
          <a:xfrm>
            <a:off x="6856150" y="3135773"/>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69108A3-9247-1872-354F-E1CA83A46A04}"/>
              </a:ext>
            </a:extLst>
          </p:cNvPr>
          <p:cNvSpPr/>
          <p:nvPr/>
        </p:nvSpPr>
        <p:spPr>
          <a:xfrm>
            <a:off x="3900959" y="3135773"/>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4CF056F-A3E8-6D84-494A-5C6C691D8610}"/>
              </a:ext>
            </a:extLst>
          </p:cNvPr>
          <p:cNvSpPr/>
          <p:nvPr/>
        </p:nvSpPr>
        <p:spPr>
          <a:xfrm>
            <a:off x="945768" y="3104544"/>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0" name="Graphic 9" descr="Group brainstorm with solid fill">
            <a:extLst>
              <a:ext uri="{FF2B5EF4-FFF2-40B4-BE49-F238E27FC236}">
                <a16:creationId xmlns:a16="http://schemas.microsoft.com/office/drawing/2014/main" id="{C6F85E82-6BC6-53E1-EF0F-46E9CB1C3A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195329" y="3357078"/>
            <a:ext cx="1156677" cy="1156677"/>
          </a:xfrm>
          <a:prstGeom prst="rect">
            <a:avLst/>
          </a:prstGeom>
        </p:spPr>
      </p:pic>
      <p:pic>
        <p:nvPicPr>
          <p:cNvPr id="11" name="Graphic 10" descr="Group with solid fill">
            <a:extLst>
              <a:ext uri="{FF2B5EF4-FFF2-40B4-BE49-F238E27FC236}">
                <a16:creationId xmlns:a16="http://schemas.microsoft.com/office/drawing/2014/main" id="{B7258E1C-31DF-AF48-C368-363A009FEA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182863" y="3389297"/>
            <a:ext cx="1156676" cy="1156676"/>
          </a:xfrm>
          <a:prstGeom prst="rect">
            <a:avLst/>
          </a:prstGeom>
        </p:spPr>
      </p:pic>
      <p:pic>
        <p:nvPicPr>
          <p:cNvPr id="12" name="Graphic 11" descr="Lights On with solid fill">
            <a:extLst>
              <a:ext uri="{FF2B5EF4-FFF2-40B4-BE49-F238E27FC236}">
                <a16:creationId xmlns:a16="http://schemas.microsoft.com/office/drawing/2014/main" id="{CE15921A-6600-B5DC-F9F9-0E51C35626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108684" y="3389295"/>
            <a:ext cx="1156677" cy="1156677"/>
          </a:xfrm>
          <a:prstGeom prst="rect">
            <a:avLst/>
          </a:prstGeom>
        </p:spPr>
      </p:pic>
      <p:sp>
        <p:nvSpPr>
          <p:cNvPr id="13" name="TextBox 12">
            <a:extLst>
              <a:ext uri="{FF2B5EF4-FFF2-40B4-BE49-F238E27FC236}">
                <a16:creationId xmlns:a16="http://schemas.microsoft.com/office/drawing/2014/main" id="{2E074CD9-28F7-2767-4373-F62489BB0CD1}"/>
              </a:ext>
            </a:extLst>
          </p:cNvPr>
          <p:cNvSpPr txBox="1"/>
          <p:nvPr/>
        </p:nvSpPr>
        <p:spPr>
          <a:xfrm>
            <a:off x="397448" y="4876800"/>
            <a:ext cx="2752437" cy="707886"/>
          </a:xfrm>
          <a:prstGeom prst="rect">
            <a:avLst/>
          </a:prstGeom>
          <a:noFill/>
        </p:spPr>
        <p:txBody>
          <a:bodyPr wrap="square" rtlCol="0">
            <a:spAutoFit/>
          </a:bodyPr>
          <a:lstStyle/>
          <a:p>
            <a:pPr algn="ctr"/>
            <a:r>
              <a:rPr lang="en-US" sz="2000" b="1" dirty="0">
                <a:solidFill>
                  <a:srgbClr val="3973B3"/>
                </a:solidFill>
              </a:rPr>
              <a:t>Be a part of our Working Groups</a:t>
            </a:r>
          </a:p>
        </p:txBody>
      </p:sp>
      <p:sp>
        <p:nvSpPr>
          <p:cNvPr id="14" name="TextBox 13">
            <a:extLst>
              <a:ext uri="{FF2B5EF4-FFF2-40B4-BE49-F238E27FC236}">
                <a16:creationId xmlns:a16="http://schemas.microsoft.com/office/drawing/2014/main" id="{77EDFE31-BDFF-DC6A-B5C8-93842ABF7A76}"/>
              </a:ext>
            </a:extLst>
          </p:cNvPr>
          <p:cNvSpPr txBox="1"/>
          <p:nvPr/>
        </p:nvSpPr>
        <p:spPr>
          <a:xfrm>
            <a:off x="3488835" y="4876800"/>
            <a:ext cx="2752437" cy="1015663"/>
          </a:xfrm>
          <a:prstGeom prst="rect">
            <a:avLst/>
          </a:prstGeom>
          <a:noFill/>
        </p:spPr>
        <p:txBody>
          <a:bodyPr wrap="square" rtlCol="0">
            <a:spAutoFit/>
          </a:bodyPr>
          <a:lstStyle/>
          <a:p>
            <a:pPr algn="ctr"/>
            <a:r>
              <a:rPr lang="en-US" sz="2000" b="1" dirty="0">
                <a:solidFill>
                  <a:srgbClr val="3973B3"/>
                </a:solidFill>
              </a:rPr>
              <a:t>Join our </a:t>
            </a:r>
            <a:r>
              <a:rPr lang="en-US" sz="2000" b="1" dirty="0">
                <a:solidFill>
                  <a:srgbClr val="68B8E5"/>
                </a:solidFill>
                <a:hlinkClick r:id="rId8">
                  <a:extLst>
                    <a:ext uri="{A12FA001-AC4F-418D-AE19-62706E023703}">
                      <ahyp:hlinkClr xmlns:ahyp="http://schemas.microsoft.com/office/drawing/2018/hyperlinkcolor" val="tx"/>
                    </a:ext>
                  </a:extLst>
                </a:hlinkClick>
              </a:rPr>
              <a:t>mailing list </a:t>
            </a:r>
            <a:r>
              <a:rPr lang="en-US" sz="2000" b="1" dirty="0">
                <a:solidFill>
                  <a:srgbClr val="3973B3"/>
                </a:solidFill>
              </a:rPr>
              <a:t>and attend Community Meetings</a:t>
            </a:r>
          </a:p>
        </p:txBody>
      </p:sp>
      <p:sp>
        <p:nvSpPr>
          <p:cNvPr id="15" name="TextBox 14">
            <a:extLst>
              <a:ext uri="{FF2B5EF4-FFF2-40B4-BE49-F238E27FC236}">
                <a16:creationId xmlns:a16="http://schemas.microsoft.com/office/drawing/2014/main" id="{EB295AD5-7902-147C-1C77-4B47E6D21272}"/>
              </a:ext>
            </a:extLst>
          </p:cNvPr>
          <p:cNvSpPr txBox="1"/>
          <p:nvPr/>
        </p:nvSpPr>
        <p:spPr>
          <a:xfrm>
            <a:off x="6377415" y="4876800"/>
            <a:ext cx="2752437" cy="400110"/>
          </a:xfrm>
          <a:prstGeom prst="rect">
            <a:avLst/>
          </a:prstGeom>
          <a:noFill/>
        </p:spPr>
        <p:txBody>
          <a:bodyPr wrap="square" rtlCol="0">
            <a:spAutoFit/>
          </a:bodyPr>
          <a:lstStyle/>
          <a:p>
            <a:pPr algn="ctr"/>
            <a:r>
              <a:rPr lang="en-US" sz="2000" b="1" dirty="0">
                <a:solidFill>
                  <a:srgbClr val="3973B3"/>
                </a:solidFill>
              </a:rPr>
              <a:t>Tell us your ideas</a:t>
            </a:r>
          </a:p>
        </p:txBody>
      </p:sp>
      <p:sp>
        <p:nvSpPr>
          <p:cNvPr id="16" name="TextBox 15">
            <a:extLst>
              <a:ext uri="{FF2B5EF4-FFF2-40B4-BE49-F238E27FC236}">
                <a16:creationId xmlns:a16="http://schemas.microsoft.com/office/drawing/2014/main" id="{3086028E-C10A-C431-DEA6-D94358309EDD}"/>
              </a:ext>
            </a:extLst>
          </p:cNvPr>
          <p:cNvSpPr txBox="1"/>
          <p:nvPr/>
        </p:nvSpPr>
        <p:spPr>
          <a:xfrm>
            <a:off x="737371" y="1527150"/>
            <a:ext cx="10834254" cy="430887"/>
          </a:xfrm>
          <a:prstGeom prst="rect">
            <a:avLst/>
          </a:prstGeom>
          <a:noFill/>
        </p:spPr>
        <p:txBody>
          <a:bodyPr wrap="square" rtlCol="0">
            <a:spAutoFit/>
          </a:bodyPr>
          <a:lstStyle/>
          <a:p>
            <a:pPr algn="ctr">
              <a:lnSpc>
                <a:spcPct val="150000"/>
              </a:lnSpc>
            </a:pPr>
            <a:r>
              <a:rPr lang="en-US" sz="1600" dirty="0">
                <a:solidFill>
                  <a:schemeClr val="tx2"/>
                </a:solidFill>
              </a:rPr>
              <a:t>The R Validation Hub is always looking to expand their network. These are a few ways to join in.</a:t>
            </a:r>
          </a:p>
        </p:txBody>
      </p:sp>
      <p:sp>
        <p:nvSpPr>
          <p:cNvPr id="17" name="Oval 16">
            <a:extLst>
              <a:ext uri="{FF2B5EF4-FFF2-40B4-BE49-F238E27FC236}">
                <a16:creationId xmlns:a16="http://schemas.microsoft.com/office/drawing/2014/main" id="{0A897170-5542-6C7D-459A-87DF479C43CC}"/>
              </a:ext>
            </a:extLst>
          </p:cNvPr>
          <p:cNvSpPr/>
          <p:nvPr/>
        </p:nvSpPr>
        <p:spPr>
          <a:xfrm>
            <a:off x="9811341" y="3135773"/>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ADB90079-E8F2-A369-8DE4-27ED3DD4EC3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10063877" y="3389295"/>
            <a:ext cx="1156677" cy="1156677"/>
          </a:xfrm>
          <a:prstGeom prst="rect">
            <a:avLst/>
          </a:prstGeom>
        </p:spPr>
      </p:pic>
      <p:sp>
        <p:nvSpPr>
          <p:cNvPr id="19" name="TextBox 18">
            <a:extLst>
              <a:ext uri="{FF2B5EF4-FFF2-40B4-BE49-F238E27FC236}">
                <a16:creationId xmlns:a16="http://schemas.microsoft.com/office/drawing/2014/main" id="{31D656F6-3A6D-2FD7-158F-B079037CB375}"/>
              </a:ext>
            </a:extLst>
          </p:cNvPr>
          <p:cNvSpPr txBox="1"/>
          <p:nvPr/>
        </p:nvSpPr>
        <p:spPr>
          <a:xfrm>
            <a:off x="9265996" y="4876800"/>
            <a:ext cx="2752437" cy="400110"/>
          </a:xfrm>
          <a:prstGeom prst="rect">
            <a:avLst/>
          </a:prstGeom>
          <a:noFill/>
        </p:spPr>
        <p:txBody>
          <a:bodyPr wrap="square" rtlCol="0">
            <a:spAutoFit/>
          </a:bodyPr>
          <a:lstStyle/>
          <a:p>
            <a:pPr algn="ctr"/>
            <a:r>
              <a:rPr lang="en-US" sz="2000" b="1" dirty="0">
                <a:solidFill>
                  <a:srgbClr val="3973B3"/>
                </a:solidFill>
              </a:rPr>
              <a:t>Submit a Case Study</a:t>
            </a:r>
          </a:p>
        </p:txBody>
      </p:sp>
      <p:pic>
        <p:nvPicPr>
          <p:cNvPr id="20" name="Picture 19">
            <a:extLst>
              <a:ext uri="{FF2B5EF4-FFF2-40B4-BE49-F238E27FC236}">
                <a16:creationId xmlns:a16="http://schemas.microsoft.com/office/drawing/2014/main" id="{73B805FE-4363-26C4-7D40-3976628CAF3C}"/>
              </a:ext>
            </a:extLst>
          </p:cNvPr>
          <p:cNvPicPr>
            <a:picLocks noChangeAspect="1"/>
          </p:cNvPicPr>
          <p:nvPr/>
        </p:nvPicPr>
        <p:blipFill>
          <a:blip r:embed="rId11">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374376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txBox="1">
            <a:spLocks/>
          </p:cNvSpPr>
          <p:nvPr/>
        </p:nvSpPr>
        <p:spPr bwMode="auto">
          <a:xfrm>
            <a:off x="1447800" y="1981200"/>
            <a:ext cx="9525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55588">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MS PGothic" panose="020B0600070205080204" pitchFamily="34" charset="-128"/>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MS PGothic"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MS PGothic"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MS PGothic"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5pPr>
            <a:lvl6pPr marL="25146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6pPr>
            <a:lvl7pPr marL="29718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7pPr>
            <a:lvl8pPr marL="34290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8pPr>
            <a:lvl9pPr marL="38862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9pPr>
          </a:lstStyle>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Name: Anuja Das</a:t>
            </a:r>
          </a:p>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Organization: Biogen</a:t>
            </a:r>
          </a:p>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E-mail: </a:t>
            </a:r>
            <a:r>
              <a:rPr lang="en-US" altLang="en-US" sz="2000" dirty="0">
                <a:solidFill>
                  <a:srgbClr val="005DA2"/>
                </a:solidFill>
                <a:latin typeface="Arial" panose="020B0604020202020204" pitchFamily="34" charset="0"/>
                <a:hlinkClick r:id="rId2"/>
              </a:rPr>
              <a:t>Anuja.das@biogen.com</a:t>
            </a:r>
            <a:endParaRPr lang="en-US" altLang="en-US" sz="2000" dirty="0">
              <a:solidFill>
                <a:srgbClr val="005DA2"/>
              </a:solidFill>
              <a:latin typeface="Arial" panose="020B0604020202020204" pitchFamily="34" charset="0"/>
            </a:endParaRPr>
          </a:p>
          <a:p>
            <a:pPr eaLnBrk="1" hangingPunct="1">
              <a:spcBef>
                <a:spcPct val="0"/>
              </a:spcBef>
              <a:buFont typeface="Arial" panose="020B0604020202020204" pitchFamily="34" charset="0"/>
              <a:buNone/>
            </a:pPr>
            <a:endParaRPr lang="en-US" altLang="en-US" sz="2000" dirty="0">
              <a:solidFill>
                <a:srgbClr val="005DA2"/>
              </a:solidFill>
              <a:latin typeface="Arial" panose="020B0604020202020204" pitchFamily="34" charset="0"/>
            </a:endParaRPr>
          </a:p>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Web: pharmar.org </a:t>
            </a:r>
          </a:p>
        </p:txBody>
      </p:sp>
      <p:sp>
        <p:nvSpPr>
          <p:cNvPr id="3" name="Date Placeholder 2">
            <a:extLst>
              <a:ext uri="{FF2B5EF4-FFF2-40B4-BE49-F238E27FC236}">
                <a16:creationId xmlns:a16="http://schemas.microsoft.com/office/drawing/2014/main" id="{1509223F-8DDA-4C7E-981C-08491C07B918}"/>
              </a:ext>
            </a:extLst>
          </p:cNvPr>
          <p:cNvSpPr>
            <a:spLocks noGrp="1"/>
          </p:cNvSpPr>
          <p:nvPr>
            <p:ph type="dt" sz="half" idx="10"/>
          </p:nvPr>
        </p:nvSpPr>
        <p:spPr/>
        <p:txBody>
          <a:bodyPr/>
          <a:lstStyle/>
          <a:p>
            <a:pPr>
              <a:defRPr/>
            </a:pPr>
            <a:fld id="{6F267BE7-F972-418C-9804-8E43136AB158}" type="datetime1">
              <a:rPr lang="en-US" altLang="en-US" smtClean="0"/>
              <a:t>10/8/25</a:t>
            </a:fld>
            <a:endParaRPr lang="en-US" altLang="en-US"/>
          </a:p>
        </p:txBody>
      </p:sp>
      <p:sp>
        <p:nvSpPr>
          <p:cNvPr id="2" name="Footer Placeholder 1">
            <a:extLst>
              <a:ext uri="{FF2B5EF4-FFF2-40B4-BE49-F238E27FC236}">
                <a16:creationId xmlns:a16="http://schemas.microsoft.com/office/drawing/2014/main" id="{901C36FB-5E01-43C5-842F-F1896C31399E}"/>
              </a:ext>
            </a:extLst>
          </p:cNvPr>
          <p:cNvSpPr>
            <a:spLocks noGrp="1"/>
          </p:cNvSpPr>
          <p:nvPr>
            <p:ph type="ftr" sz="quarter" idx="11"/>
          </p:nvPr>
        </p:nvSpPr>
        <p:spPr/>
        <p:txBody>
          <a:bodyPr/>
          <a:lstStyle/>
          <a:p>
            <a:pPr>
              <a:defRPr/>
            </a:pPr>
            <a:r>
              <a:rPr lang="en-US"/>
              <a:t>Paper Number xx-xxx</a:t>
            </a:r>
            <a:endParaRPr lang="en-US" dirty="0"/>
          </a:p>
        </p:txBody>
      </p:sp>
      <p:sp>
        <p:nvSpPr>
          <p:cNvPr id="13315"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MS PGothic" panose="020B0600070205080204" pitchFamily="34" charset="-128"/>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MS PGothic"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MS PGothic"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MS PGothic"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5pPr>
            <a:lvl6pPr marL="25146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6pPr>
            <a:lvl7pPr marL="29718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7pPr>
            <a:lvl8pPr marL="34290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8pPr>
            <a:lvl9pPr marL="38862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9pPr>
          </a:lstStyle>
          <a:p>
            <a:pPr>
              <a:spcBef>
                <a:spcPct val="0"/>
              </a:spcBef>
              <a:buClrTx/>
              <a:buSzTx/>
              <a:buFontTx/>
              <a:buNone/>
            </a:pPr>
            <a:fld id="{ADD7E776-CF53-4D6A-A712-4E7E6E152D90}" type="slidenum">
              <a:rPr lang="en-US" altLang="en-US" sz="1000">
                <a:solidFill>
                  <a:schemeClr val="tx2"/>
                </a:solidFill>
              </a:rPr>
              <a:pPr>
                <a:spcBef>
                  <a:spcPct val="0"/>
                </a:spcBef>
                <a:buClrTx/>
                <a:buSzTx/>
                <a:buFontTx/>
                <a:buNone/>
              </a:pPr>
              <a:t>22</a:t>
            </a:fld>
            <a:endParaRPr lang="en-US" altLang="en-US" sz="1000">
              <a:solidFill>
                <a:schemeClr val="tx2"/>
              </a:solidFill>
            </a:endParaRPr>
          </a:p>
        </p:txBody>
      </p:sp>
      <p:pic>
        <p:nvPicPr>
          <p:cNvPr id="4" name="Picture 3">
            <a:extLst>
              <a:ext uri="{FF2B5EF4-FFF2-40B4-BE49-F238E27FC236}">
                <a16:creationId xmlns:a16="http://schemas.microsoft.com/office/drawing/2014/main" id="{A2723FBA-A018-AB21-2476-4412275D0173}"/>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harmaSUG2019.1_Presentation_Template_widescree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Presentation4" id="{8FF70FEB-4B4B-4096-BFB3-7C50857C8305}" vid="{0F48FF4C-3A59-402F-AEF7-47AEAEB5F2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28e349f-c68d-46ce-94ba-6d0e8d23db64}" enabled="1" method="Standard" siteId="{7b7466bb-fe1d-47a0-b943-8ded565c8e54}" contentBits="0" removed="0"/>
</clbl:labelList>
</file>

<file path=docProps/app.xml><?xml version="1.0" encoding="utf-8"?>
<Properties xmlns="http://schemas.openxmlformats.org/officeDocument/2006/extended-properties" xmlns:vt="http://schemas.openxmlformats.org/officeDocument/2006/docPropsVTypes">
  <Template>presentation_template_widescreen</Template>
  <TotalTime>110</TotalTime>
  <Words>831</Words>
  <Application>Microsoft Macintosh PowerPoint</Application>
  <PresentationFormat>Widescreen</PresentationFormat>
  <Paragraphs>183</Paragraphs>
  <Slides>22</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Amasis MT Pro Black</vt:lpstr>
      <vt:lpstr>Arial</vt:lpstr>
      <vt:lpstr>Calibri</vt:lpstr>
      <vt:lpstr>Lucida Sans Unicode</vt:lpstr>
      <vt:lpstr>Verdana</vt:lpstr>
      <vt:lpstr>Wingdings 2</vt:lpstr>
      <vt:lpstr>Wingdings 3</vt:lpstr>
      <vt:lpstr>PharmaSUG2019.1_Presentation_Template_widescreen</vt:lpstr>
      <vt:lpstr>Validating R for Pharma Streamlining the Validation of Open-Source R Packages within Highly Regulated Pharmaceutical Work </vt:lpstr>
      <vt:lpstr>Agenda</vt:lpstr>
      <vt:lpstr>But First…</vt:lpstr>
      <vt:lpstr>What is the R Validation Hub?</vt:lpstr>
      <vt:lpstr>The White Paper</vt:lpstr>
      <vt:lpstr>A Risk-Based Approach for Assessing R Package Accuracy within a Validated Infrastructure </vt:lpstr>
      <vt:lpstr>Proposed Risk-Based Approach to Assess Accuracy</vt:lpstr>
      <vt:lpstr>{riskmetric} &amp; {riskassessment}</vt:lpstr>
      <vt:lpstr>How Quality can be Quantified</vt:lpstr>
      <vt:lpstr>How It Works</vt:lpstr>
      <vt:lpstr>Decision Automation – Integration with {riskassessment}</vt:lpstr>
      <vt:lpstr>Exploring Dependencies</vt:lpstr>
      <vt:lpstr>{val.*} Packages</vt:lpstr>
      <vt:lpstr>Evolution into {val.*} Packages</vt:lpstr>
      <vt:lpstr>Who is {val.*} Intended for?</vt:lpstr>
      <vt:lpstr>Regulatory R Repository </vt:lpstr>
      <vt:lpstr>About the Initiative</vt:lpstr>
      <vt:lpstr>Check Out More on Our Site</vt:lpstr>
      <vt:lpstr>Communications</vt:lpstr>
      <vt:lpstr>Our Platforms</vt:lpstr>
      <vt:lpstr>Get Involved!!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ajay gupta</dc:creator>
  <cp:lastModifiedBy>Abercrombie, Jaxon {TDGJ~SOUTH SAN FRANCISCO}</cp:lastModifiedBy>
  <cp:revision>5</cp:revision>
  <dcterms:created xsi:type="dcterms:W3CDTF">2024-10-19T05:41:41Z</dcterms:created>
  <dcterms:modified xsi:type="dcterms:W3CDTF">2025-10-08T18:23:41Z</dcterms:modified>
</cp:coreProperties>
</file>